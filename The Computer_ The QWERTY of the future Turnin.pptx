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Montserrat"/>
      <p:regular r:id="rId23"/>
      <p:bold r:id="rId24"/>
      <p:italic r:id="rId25"/>
      <p:boldItalic r:id="rId26"/>
    </p:embeddedFont>
    <p:embeddedFont>
      <p:font typeface="Lato"/>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Montserrat-bold.fntdata"/><Relationship Id="rId23" Type="http://schemas.openxmlformats.org/officeDocument/2006/relationships/font" Target="fonts/Montserrat-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boldItalic.fntdata"/><Relationship Id="rId25" Type="http://schemas.openxmlformats.org/officeDocument/2006/relationships/font" Target="fonts/Montserrat-italic.fntdata"/><Relationship Id="rId28" Type="http://schemas.openxmlformats.org/officeDocument/2006/relationships/font" Target="fonts/Lato-bold.fntdata"/><Relationship Id="rId27" Type="http://schemas.openxmlformats.org/officeDocument/2006/relationships/font" Target="fonts/Lat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Lat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6" name="Shape 136"/>
        <p:cNvGrpSpPr/>
        <p:nvPr/>
      </p:nvGrpSpPr>
      <p:grpSpPr>
        <a:xfrm>
          <a:off x="0" y="0"/>
          <a:ext cx="0" cy="0"/>
          <a:chOff x="0" y="0"/>
          <a:chExt cx="0" cy="0"/>
        </a:xfrm>
      </p:grpSpPr>
      <p:sp>
        <p:nvSpPr>
          <p:cNvPr id="137" name="Google Shape;137;g64fa0813e4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64fa0813e4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2" name="Shape 142"/>
        <p:cNvGrpSpPr/>
        <p:nvPr/>
      </p:nvGrpSpPr>
      <p:grpSpPr>
        <a:xfrm>
          <a:off x="0" y="0"/>
          <a:ext cx="0" cy="0"/>
          <a:chOff x="0" y="0"/>
          <a:chExt cx="0" cy="0"/>
        </a:xfrm>
      </p:grpSpPr>
      <p:sp>
        <p:nvSpPr>
          <p:cNvPr id="143" name="Google Shape;143;g6f7bd21c8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6f7bd21c8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7" name="Shape 147"/>
        <p:cNvGrpSpPr/>
        <p:nvPr/>
      </p:nvGrpSpPr>
      <p:grpSpPr>
        <a:xfrm>
          <a:off x="0" y="0"/>
          <a:ext cx="0" cy="0"/>
          <a:chOff x="0" y="0"/>
          <a:chExt cx="0" cy="0"/>
        </a:xfrm>
      </p:grpSpPr>
      <p:sp>
        <p:nvSpPr>
          <p:cNvPr id="148" name="Google Shape;148;g64fa0813e4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64fa0813e4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2" name="Shape 152"/>
        <p:cNvGrpSpPr/>
        <p:nvPr/>
      </p:nvGrpSpPr>
      <p:grpSpPr>
        <a:xfrm>
          <a:off x="0" y="0"/>
          <a:ext cx="0" cy="0"/>
          <a:chOff x="0" y="0"/>
          <a:chExt cx="0" cy="0"/>
        </a:xfrm>
      </p:grpSpPr>
      <p:sp>
        <p:nvSpPr>
          <p:cNvPr id="153" name="Google Shape;153;g6f570fe23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6f570fe23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3" name="Shape 193"/>
        <p:cNvGrpSpPr/>
        <p:nvPr/>
      </p:nvGrpSpPr>
      <p:grpSpPr>
        <a:xfrm>
          <a:off x="0" y="0"/>
          <a:ext cx="0" cy="0"/>
          <a:chOff x="0" y="0"/>
          <a:chExt cx="0" cy="0"/>
        </a:xfrm>
      </p:grpSpPr>
      <p:sp>
        <p:nvSpPr>
          <p:cNvPr id="194" name="Google Shape;194;g6f77cf5032_1_4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6f77cf5032_1_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5" name="Shape 245"/>
        <p:cNvGrpSpPr/>
        <p:nvPr/>
      </p:nvGrpSpPr>
      <p:grpSpPr>
        <a:xfrm>
          <a:off x="0" y="0"/>
          <a:ext cx="0" cy="0"/>
          <a:chOff x="0" y="0"/>
          <a:chExt cx="0" cy="0"/>
        </a:xfrm>
      </p:grpSpPr>
      <p:sp>
        <p:nvSpPr>
          <p:cNvPr id="246" name="Google Shape;246;g6f570fe238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6f570fe238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0" name="Shape 250"/>
        <p:cNvGrpSpPr/>
        <p:nvPr/>
      </p:nvGrpSpPr>
      <p:grpSpPr>
        <a:xfrm>
          <a:off x="0" y="0"/>
          <a:ext cx="0" cy="0"/>
          <a:chOff x="0" y="0"/>
          <a:chExt cx="0" cy="0"/>
        </a:xfrm>
      </p:grpSpPr>
      <p:sp>
        <p:nvSpPr>
          <p:cNvPr id="251" name="Google Shape;251;g6f7d896a47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6f7d896a47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6" name="Shape 256"/>
        <p:cNvGrpSpPr/>
        <p:nvPr/>
      </p:nvGrpSpPr>
      <p:grpSpPr>
        <a:xfrm>
          <a:off x="0" y="0"/>
          <a:ext cx="0" cy="0"/>
          <a:chOff x="0" y="0"/>
          <a:chExt cx="0" cy="0"/>
        </a:xfrm>
      </p:grpSpPr>
      <p:sp>
        <p:nvSpPr>
          <p:cNvPr id="257" name="Google Shape;257;g6f7bd21c8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6f7bd21c8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3" name="Shape 263"/>
        <p:cNvGrpSpPr/>
        <p:nvPr/>
      </p:nvGrpSpPr>
      <p:grpSpPr>
        <a:xfrm>
          <a:off x="0" y="0"/>
          <a:ext cx="0" cy="0"/>
          <a:chOff x="0" y="0"/>
          <a:chExt cx="0" cy="0"/>
        </a:xfrm>
      </p:grpSpPr>
      <p:sp>
        <p:nvSpPr>
          <p:cNvPr id="264" name="Google Shape;264;g6f570fe238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6f570fe238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9" name="Shape 269"/>
        <p:cNvGrpSpPr/>
        <p:nvPr/>
      </p:nvGrpSpPr>
      <p:grpSpPr>
        <a:xfrm>
          <a:off x="0" y="0"/>
          <a:ext cx="0" cy="0"/>
          <a:chOff x="0" y="0"/>
          <a:chExt cx="0" cy="0"/>
        </a:xfrm>
      </p:grpSpPr>
      <p:sp>
        <p:nvSpPr>
          <p:cNvPr id="270" name="Google Shape;270;g6f570fe238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6f570fe238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4" name="Shape 274"/>
        <p:cNvGrpSpPr/>
        <p:nvPr/>
      </p:nvGrpSpPr>
      <p:grpSpPr>
        <a:xfrm>
          <a:off x="0" y="0"/>
          <a:ext cx="0" cy="0"/>
          <a:chOff x="0" y="0"/>
          <a:chExt cx="0" cy="0"/>
        </a:xfrm>
      </p:grpSpPr>
      <p:sp>
        <p:nvSpPr>
          <p:cNvPr id="275" name="Google Shape;275;g6f570fe238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6f570fe238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Multiple GPUs only lower performance overall</a:t>
            </a:r>
            <a:endParaRPr/>
          </a:p>
          <a:p>
            <a:pPr indent="0" lvl="0" marL="0" rtl="0" algn="l">
              <a:spcBef>
                <a:spcPts val="0"/>
              </a:spcBef>
              <a:spcAft>
                <a:spcPts val="0"/>
              </a:spcAft>
              <a:buNone/>
            </a:pPr>
            <a:r>
              <a:rPr lang="en"/>
              <a:t>Having extra RAM left unused is wasting money, since it just sits there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0" name="Shape 280"/>
        <p:cNvGrpSpPr/>
        <p:nvPr/>
      </p:nvGrpSpPr>
      <p:grpSpPr>
        <a:xfrm>
          <a:off x="0" y="0"/>
          <a:ext cx="0" cy="0"/>
          <a:chOff x="0" y="0"/>
          <a:chExt cx="0" cy="0"/>
        </a:xfrm>
      </p:grpSpPr>
      <p:sp>
        <p:nvSpPr>
          <p:cNvPr id="281" name="Google Shape;281;g6f570fe238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6f570fe238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5" name="Shape 285"/>
        <p:cNvGrpSpPr/>
        <p:nvPr/>
      </p:nvGrpSpPr>
      <p:grpSpPr>
        <a:xfrm>
          <a:off x="0" y="0"/>
          <a:ext cx="0" cy="0"/>
          <a:chOff x="0" y="0"/>
          <a:chExt cx="0" cy="0"/>
        </a:xfrm>
      </p:grpSpPr>
      <p:sp>
        <p:nvSpPr>
          <p:cNvPr id="286" name="Google Shape;286;g6f570fe238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6f570fe238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1" name="Shape 291"/>
        <p:cNvGrpSpPr/>
        <p:nvPr/>
      </p:nvGrpSpPr>
      <p:grpSpPr>
        <a:xfrm>
          <a:off x="0" y="0"/>
          <a:ext cx="0" cy="0"/>
          <a:chOff x="0" y="0"/>
          <a:chExt cx="0" cy="0"/>
        </a:xfrm>
      </p:grpSpPr>
      <p:sp>
        <p:nvSpPr>
          <p:cNvPr id="292" name="Google Shape;292;g6f5bf7ea8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6f5bf7ea8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6" name="Shape 296"/>
        <p:cNvGrpSpPr/>
        <p:nvPr/>
      </p:nvGrpSpPr>
      <p:grpSpPr>
        <a:xfrm>
          <a:off x="0" y="0"/>
          <a:ext cx="0" cy="0"/>
          <a:chOff x="0" y="0"/>
          <a:chExt cx="0" cy="0"/>
        </a:xfrm>
      </p:grpSpPr>
      <p:sp>
        <p:nvSpPr>
          <p:cNvPr id="297" name="Google Shape;297;g6f5bf7ea8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6f5bf7ea8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02" name="Shape 302"/>
        <p:cNvGrpSpPr/>
        <p:nvPr/>
      </p:nvGrpSpPr>
      <p:grpSpPr>
        <a:xfrm>
          <a:off x="0" y="0"/>
          <a:ext cx="0" cy="0"/>
          <a:chOff x="0" y="0"/>
          <a:chExt cx="0" cy="0"/>
        </a:xfrm>
      </p:grpSpPr>
      <p:sp>
        <p:nvSpPr>
          <p:cNvPr id="303" name="Google Shape;303;g6f7d896a47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6f7d896a47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1600"/>
              </a:spcBef>
              <a:spcAft>
                <a:spcPts val="160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www.livescience.com/20718-computer-history.html" TargetMode="External"/><Relationship Id="rId4" Type="http://schemas.openxmlformats.org/officeDocument/2006/relationships/hyperlink" Target="http://www.clarku.edu/offices/its/a-z-service-catalog/personal-computer-purchases/" TargetMode="External"/><Relationship Id="rId5" Type="http://schemas.openxmlformats.org/officeDocument/2006/relationships/hyperlink" Target="http://www.digitaltrends.com/computing/how-to-buy-a-gaming-desktop/" TargetMode="External"/><Relationship Id="rId6" Type="http://schemas.openxmlformats.org/officeDocument/2006/relationships/hyperlink" Target="http://www.wired.com/story/wired-guide-to-quantum-computin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The Computer:</a:t>
            </a:r>
            <a:endParaRPr/>
          </a:p>
          <a:p>
            <a:pPr indent="0" lvl="0" marL="0" rtl="0" algn="ctr">
              <a:spcBef>
                <a:spcPts val="0"/>
              </a:spcBef>
              <a:spcAft>
                <a:spcPts val="0"/>
              </a:spcAft>
              <a:buNone/>
            </a:pPr>
            <a:r>
              <a:rPr lang="en"/>
              <a:t>The </a:t>
            </a:r>
            <a:r>
              <a:rPr lang="en"/>
              <a:t>brains</a:t>
            </a:r>
            <a:r>
              <a:rPr lang="en"/>
              <a:t> of the future</a:t>
            </a:r>
            <a:endParaRPr/>
          </a:p>
        </p:txBody>
      </p:sp>
      <p:sp>
        <p:nvSpPr>
          <p:cNvPr id="135" name="Google Shape;135;p13"/>
          <p:cNvSpPr txBox="1"/>
          <p:nvPr>
            <p:ph idx="1" type="subTitle"/>
          </p:nvPr>
        </p:nvSpPr>
        <p:spPr>
          <a:xfrm>
            <a:off x="5083950" y="3924925"/>
            <a:ext cx="3470700" cy="506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The history, parts, and future of computers.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Introduction</a:t>
            </a:r>
            <a:endParaRPr/>
          </a:p>
        </p:txBody>
      </p:sp>
      <p:sp>
        <p:nvSpPr>
          <p:cNvPr id="141" name="Google Shape;141;p14"/>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500"/>
              <a:t>Computers are an everyday sight nowadays, but it hasn’t been that way. The earliest computers were gigantic mechanical calculating machines, meant to solve math problems. Over time, however, computers have evolved into the small  electronic devices we now use on a day to day basis. Through the hard work of numerous scientists and engineers, computers were converted from mechanical to </a:t>
            </a:r>
            <a:r>
              <a:rPr lang="en" sz="1500"/>
              <a:t>electrical</a:t>
            </a:r>
            <a:r>
              <a:rPr lang="en" sz="1500"/>
              <a:t>, slow to fast, and big to small. New techniques are being created every minute, and many products manufactured. We have overcome the challenge of large components, building compact, more </a:t>
            </a:r>
            <a:r>
              <a:rPr lang="en" sz="1500"/>
              <a:t>efficient</a:t>
            </a:r>
            <a:r>
              <a:rPr lang="en" sz="1500"/>
              <a:t> devices. Nowadays, we can hardly imagine computers as big and bulky, and we take the ease of use for granted, even though it has not always been this way.</a:t>
            </a:r>
            <a:endParaRPr sz="1500">
              <a:highlight>
                <a:srgbClr val="FFFF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823850" y="866775"/>
            <a:ext cx="4587000" cy="3521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 computer is a device that accepts input, processes it, then gives output. We use computers everyday. For example, smartphones, laptops, PCs, smartwatches, and gaming consoles are all computers.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0" name="Shape 150"/>
        <p:cNvGrpSpPr/>
        <p:nvPr/>
      </p:nvGrpSpPr>
      <p:grpSpPr>
        <a:xfrm>
          <a:off x="0" y="0"/>
          <a:ext cx="0" cy="0"/>
          <a:chOff x="0" y="0"/>
          <a:chExt cx="0" cy="0"/>
        </a:xfrm>
      </p:grpSpPr>
      <p:sp>
        <p:nvSpPr>
          <p:cNvPr id="151" name="Google Shape;151;p16"/>
          <p:cNvSpPr txBox="1"/>
          <p:nvPr>
            <p:ph type="title"/>
          </p:nvPr>
        </p:nvSpPr>
        <p:spPr>
          <a:xfrm>
            <a:off x="823850" y="2053000"/>
            <a:ext cx="4587000" cy="1148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The History of Computers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5" name="Shape 155"/>
        <p:cNvGrpSpPr/>
        <p:nvPr/>
      </p:nvGrpSpPr>
      <p:grpSpPr>
        <a:xfrm>
          <a:off x="0" y="0"/>
          <a:ext cx="0" cy="0"/>
          <a:chOff x="0" y="0"/>
          <a:chExt cx="0" cy="0"/>
        </a:xfrm>
      </p:grpSpPr>
      <p:sp>
        <p:nvSpPr>
          <p:cNvPr id="156" name="Google Shape;156;p17"/>
          <p:cNvSpPr txBox="1"/>
          <p:nvPr>
            <p:ph idx="1" type="body"/>
          </p:nvPr>
        </p:nvSpPr>
        <p:spPr>
          <a:xfrm>
            <a:off x="812725" y="4305375"/>
            <a:ext cx="6936000" cy="523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This is a timeline of the history of the computer. </a:t>
            </a:r>
            <a:r>
              <a:rPr baseline="30000" lang="en"/>
              <a:t>1</a:t>
            </a:r>
            <a:endParaRPr baseline="30000"/>
          </a:p>
        </p:txBody>
      </p:sp>
      <p:cxnSp>
        <p:nvCxnSpPr>
          <p:cNvPr id="157" name="Google Shape;157;p17"/>
          <p:cNvCxnSpPr/>
          <p:nvPr/>
        </p:nvCxnSpPr>
        <p:spPr>
          <a:xfrm>
            <a:off x="712800" y="1753975"/>
            <a:ext cx="6951000" cy="0"/>
          </a:xfrm>
          <a:prstGeom prst="straightConnector1">
            <a:avLst/>
          </a:prstGeom>
          <a:noFill/>
          <a:ln cap="flat" cmpd="sng" w="9525">
            <a:solidFill>
              <a:srgbClr val="FFFFFF"/>
            </a:solidFill>
            <a:prstDash val="solid"/>
            <a:round/>
            <a:headEnd len="med" w="med" type="none"/>
            <a:tailEnd len="med" w="med" type="none"/>
          </a:ln>
        </p:spPr>
      </p:cxnSp>
      <p:sp>
        <p:nvSpPr>
          <p:cNvPr id="158" name="Google Shape;158;p17"/>
          <p:cNvSpPr txBox="1"/>
          <p:nvPr/>
        </p:nvSpPr>
        <p:spPr>
          <a:xfrm>
            <a:off x="610150" y="1813325"/>
            <a:ext cx="484800" cy="111600"/>
          </a:xfrm>
          <a:prstGeom prst="rect">
            <a:avLst/>
          </a:prstGeom>
          <a:noFill/>
          <a:ln>
            <a:noFill/>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1000">
                <a:solidFill>
                  <a:srgbClr val="FFFFFF"/>
                </a:solidFill>
                <a:latin typeface="Lato"/>
                <a:ea typeface="Lato"/>
                <a:cs typeface="Lato"/>
                <a:sym typeface="Lato"/>
              </a:rPr>
              <a:t>1800</a:t>
            </a:r>
            <a:endParaRPr sz="1000">
              <a:solidFill>
                <a:srgbClr val="FFFFFF"/>
              </a:solidFill>
              <a:latin typeface="Lato"/>
              <a:ea typeface="Lato"/>
              <a:cs typeface="Lato"/>
              <a:sym typeface="Lato"/>
            </a:endParaRPr>
          </a:p>
        </p:txBody>
      </p:sp>
      <p:sp>
        <p:nvSpPr>
          <p:cNvPr id="159" name="Google Shape;159;p17"/>
          <p:cNvSpPr txBox="1"/>
          <p:nvPr/>
        </p:nvSpPr>
        <p:spPr>
          <a:xfrm>
            <a:off x="7263925" y="1840275"/>
            <a:ext cx="484800" cy="111600"/>
          </a:xfrm>
          <a:prstGeom prst="rect">
            <a:avLst/>
          </a:prstGeom>
          <a:noFill/>
          <a:ln>
            <a:noFill/>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1000">
                <a:solidFill>
                  <a:srgbClr val="FFFFFF"/>
                </a:solidFill>
                <a:latin typeface="Lato"/>
                <a:ea typeface="Lato"/>
                <a:cs typeface="Lato"/>
                <a:sym typeface="Lato"/>
              </a:rPr>
              <a:t>2019</a:t>
            </a:r>
            <a:endParaRPr sz="1000">
              <a:solidFill>
                <a:srgbClr val="FFFFFF"/>
              </a:solidFill>
              <a:latin typeface="Lato"/>
              <a:ea typeface="Lato"/>
              <a:cs typeface="Lato"/>
              <a:sym typeface="Lato"/>
            </a:endParaRPr>
          </a:p>
        </p:txBody>
      </p:sp>
      <p:sp>
        <p:nvSpPr>
          <p:cNvPr id="160" name="Google Shape;160;p17"/>
          <p:cNvSpPr txBox="1"/>
          <p:nvPr/>
        </p:nvSpPr>
        <p:spPr>
          <a:xfrm>
            <a:off x="213575" y="207850"/>
            <a:ext cx="1206300" cy="1773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500">
                <a:solidFill>
                  <a:srgbClr val="FFFFFF"/>
                </a:solidFill>
                <a:latin typeface="Lato"/>
                <a:ea typeface="Lato"/>
                <a:cs typeface="Lato"/>
                <a:sym typeface="Lato"/>
              </a:rPr>
              <a:t>1801 - Punch Card Loom is invented</a:t>
            </a:r>
            <a:endParaRPr sz="500">
              <a:solidFill>
                <a:srgbClr val="FFFFFF"/>
              </a:solidFill>
              <a:latin typeface="Lato"/>
              <a:ea typeface="Lato"/>
              <a:cs typeface="Lato"/>
              <a:sym typeface="Lato"/>
            </a:endParaRPr>
          </a:p>
        </p:txBody>
      </p:sp>
      <p:cxnSp>
        <p:nvCxnSpPr>
          <p:cNvPr id="161" name="Google Shape;161;p17"/>
          <p:cNvCxnSpPr>
            <a:stCxn id="160" idx="2"/>
          </p:cNvCxnSpPr>
          <p:nvPr/>
        </p:nvCxnSpPr>
        <p:spPr>
          <a:xfrm>
            <a:off x="816725" y="385150"/>
            <a:ext cx="164100" cy="1374300"/>
          </a:xfrm>
          <a:prstGeom prst="straightConnector1">
            <a:avLst/>
          </a:prstGeom>
          <a:noFill/>
          <a:ln cap="flat" cmpd="sng" w="9525">
            <a:solidFill>
              <a:srgbClr val="FFFFFF"/>
            </a:solidFill>
            <a:prstDash val="solid"/>
            <a:round/>
            <a:headEnd len="med" w="med" type="none"/>
            <a:tailEnd len="med" w="med" type="none"/>
          </a:ln>
        </p:spPr>
      </p:cxnSp>
      <p:sp>
        <p:nvSpPr>
          <p:cNvPr id="162" name="Google Shape;162;p17"/>
          <p:cNvSpPr txBox="1"/>
          <p:nvPr/>
        </p:nvSpPr>
        <p:spPr>
          <a:xfrm>
            <a:off x="1488350" y="207850"/>
            <a:ext cx="1887600" cy="1773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500">
                <a:solidFill>
                  <a:srgbClr val="FFFFFF"/>
                </a:solidFill>
                <a:latin typeface="Lato"/>
                <a:ea typeface="Lato"/>
                <a:cs typeface="Lato"/>
                <a:sym typeface="Lato"/>
              </a:rPr>
              <a:t>1822 - Babbage imagines a steam driven calculating machine</a:t>
            </a:r>
            <a:endParaRPr sz="500">
              <a:solidFill>
                <a:srgbClr val="FFFFFF"/>
              </a:solidFill>
              <a:latin typeface="Lato"/>
              <a:ea typeface="Lato"/>
              <a:cs typeface="Lato"/>
              <a:sym typeface="Lato"/>
            </a:endParaRPr>
          </a:p>
        </p:txBody>
      </p:sp>
      <p:cxnSp>
        <p:nvCxnSpPr>
          <p:cNvPr id="163" name="Google Shape;163;p17"/>
          <p:cNvCxnSpPr>
            <a:stCxn id="162" idx="2"/>
          </p:cNvCxnSpPr>
          <p:nvPr/>
        </p:nvCxnSpPr>
        <p:spPr>
          <a:xfrm flipH="1">
            <a:off x="1556750" y="385150"/>
            <a:ext cx="875400" cy="1368600"/>
          </a:xfrm>
          <a:prstGeom prst="straightConnector1">
            <a:avLst/>
          </a:prstGeom>
          <a:noFill/>
          <a:ln cap="flat" cmpd="sng" w="9525">
            <a:solidFill>
              <a:srgbClr val="FFFFFF"/>
            </a:solidFill>
            <a:prstDash val="solid"/>
            <a:round/>
            <a:headEnd len="med" w="med" type="none"/>
            <a:tailEnd len="med" w="med" type="none"/>
          </a:ln>
        </p:spPr>
      </p:cxnSp>
      <p:sp>
        <p:nvSpPr>
          <p:cNvPr id="164" name="Google Shape;164;p17"/>
          <p:cNvSpPr txBox="1"/>
          <p:nvPr/>
        </p:nvSpPr>
        <p:spPr>
          <a:xfrm>
            <a:off x="3444425" y="207850"/>
            <a:ext cx="1510800" cy="1773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500">
                <a:solidFill>
                  <a:srgbClr val="FFFFFF"/>
                </a:solidFill>
                <a:latin typeface="Lato"/>
                <a:ea typeface="Lato"/>
                <a:cs typeface="Lato"/>
                <a:sym typeface="Lato"/>
              </a:rPr>
              <a:t>1890 - 1880 US census is calculated by machine</a:t>
            </a:r>
            <a:endParaRPr sz="500">
              <a:solidFill>
                <a:srgbClr val="FFFFFF"/>
              </a:solidFill>
              <a:latin typeface="Lato"/>
              <a:ea typeface="Lato"/>
              <a:cs typeface="Lato"/>
              <a:sym typeface="Lato"/>
            </a:endParaRPr>
          </a:p>
        </p:txBody>
      </p:sp>
      <p:cxnSp>
        <p:nvCxnSpPr>
          <p:cNvPr id="165" name="Google Shape;165;p17"/>
          <p:cNvCxnSpPr>
            <a:stCxn id="164" idx="2"/>
          </p:cNvCxnSpPr>
          <p:nvPr/>
        </p:nvCxnSpPr>
        <p:spPr>
          <a:xfrm flipH="1">
            <a:off x="3638225" y="385150"/>
            <a:ext cx="561600" cy="1362900"/>
          </a:xfrm>
          <a:prstGeom prst="straightConnector1">
            <a:avLst/>
          </a:prstGeom>
          <a:noFill/>
          <a:ln cap="flat" cmpd="sng" w="9525">
            <a:solidFill>
              <a:srgbClr val="FFFFFF"/>
            </a:solidFill>
            <a:prstDash val="solid"/>
            <a:round/>
            <a:headEnd len="med" w="med" type="none"/>
            <a:tailEnd len="med" w="med" type="none"/>
          </a:ln>
        </p:spPr>
      </p:cxnSp>
      <p:sp>
        <p:nvSpPr>
          <p:cNvPr id="166" name="Google Shape;166;p17"/>
          <p:cNvSpPr txBox="1"/>
          <p:nvPr/>
        </p:nvSpPr>
        <p:spPr>
          <a:xfrm>
            <a:off x="3715025" y="1840275"/>
            <a:ext cx="484800" cy="111600"/>
          </a:xfrm>
          <a:prstGeom prst="rect">
            <a:avLst/>
          </a:prstGeom>
          <a:noFill/>
          <a:ln>
            <a:noFill/>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1000">
                <a:solidFill>
                  <a:srgbClr val="FFFFFF"/>
                </a:solidFill>
                <a:latin typeface="Lato"/>
                <a:ea typeface="Lato"/>
                <a:cs typeface="Lato"/>
                <a:sym typeface="Lato"/>
              </a:rPr>
              <a:t>1900</a:t>
            </a:r>
            <a:endParaRPr sz="1000">
              <a:solidFill>
                <a:srgbClr val="FFFFFF"/>
              </a:solidFill>
              <a:latin typeface="Lato"/>
              <a:ea typeface="Lato"/>
              <a:cs typeface="Lato"/>
              <a:sym typeface="Lato"/>
            </a:endParaRPr>
          </a:p>
        </p:txBody>
      </p:sp>
      <p:sp>
        <p:nvSpPr>
          <p:cNvPr id="167" name="Google Shape;167;p17"/>
          <p:cNvSpPr txBox="1"/>
          <p:nvPr/>
        </p:nvSpPr>
        <p:spPr>
          <a:xfrm>
            <a:off x="6560250" y="1840275"/>
            <a:ext cx="484800" cy="111600"/>
          </a:xfrm>
          <a:prstGeom prst="rect">
            <a:avLst/>
          </a:prstGeom>
          <a:noFill/>
          <a:ln>
            <a:noFill/>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1000">
                <a:solidFill>
                  <a:srgbClr val="FFFFFF"/>
                </a:solidFill>
                <a:latin typeface="Lato"/>
                <a:ea typeface="Lato"/>
                <a:cs typeface="Lato"/>
                <a:sym typeface="Lato"/>
              </a:rPr>
              <a:t>20</a:t>
            </a:r>
            <a:r>
              <a:rPr lang="en" sz="1000">
                <a:solidFill>
                  <a:srgbClr val="FFFFFF"/>
                </a:solidFill>
                <a:latin typeface="Lato"/>
                <a:ea typeface="Lato"/>
                <a:cs typeface="Lato"/>
                <a:sym typeface="Lato"/>
              </a:rPr>
              <a:t>00</a:t>
            </a:r>
            <a:endParaRPr sz="1000">
              <a:solidFill>
                <a:srgbClr val="FFFFFF"/>
              </a:solidFill>
              <a:latin typeface="Lato"/>
              <a:ea typeface="Lato"/>
              <a:cs typeface="Lato"/>
              <a:sym typeface="Lato"/>
            </a:endParaRPr>
          </a:p>
        </p:txBody>
      </p:sp>
      <p:sp>
        <p:nvSpPr>
          <p:cNvPr id="168" name="Google Shape;168;p17"/>
          <p:cNvSpPr txBox="1"/>
          <p:nvPr/>
        </p:nvSpPr>
        <p:spPr>
          <a:xfrm>
            <a:off x="5023700" y="207850"/>
            <a:ext cx="1636500" cy="1773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500">
                <a:solidFill>
                  <a:srgbClr val="FFFFFF"/>
                </a:solidFill>
                <a:latin typeface="Lato"/>
                <a:ea typeface="Lato"/>
                <a:cs typeface="Lato"/>
                <a:sym typeface="Lato"/>
              </a:rPr>
              <a:t>1936</a:t>
            </a:r>
            <a:r>
              <a:rPr lang="en" sz="500">
                <a:solidFill>
                  <a:srgbClr val="FFFFFF"/>
                </a:solidFill>
                <a:latin typeface="Lato"/>
                <a:ea typeface="Lato"/>
                <a:cs typeface="Lato"/>
                <a:sym typeface="Lato"/>
              </a:rPr>
              <a:t> -The idea of the Turing machine is established</a:t>
            </a:r>
            <a:endParaRPr sz="500">
              <a:solidFill>
                <a:srgbClr val="FFFFFF"/>
              </a:solidFill>
              <a:latin typeface="Lato"/>
              <a:ea typeface="Lato"/>
              <a:cs typeface="Lato"/>
              <a:sym typeface="Lato"/>
            </a:endParaRPr>
          </a:p>
        </p:txBody>
      </p:sp>
      <p:cxnSp>
        <p:nvCxnSpPr>
          <p:cNvPr id="169" name="Google Shape;169;p17"/>
          <p:cNvCxnSpPr>
            <a:stCxn id="168" idx="2"/>
          </p:cNvCxnSpPr>
          <p:nvPr/>
        </p:nvCxnSpPr>
        <p:spPr>
          <a:xfrm flipH="1">
            <a:off x="4510550" y="385150"/>
            <a:ext cx="1331400" cy="1365600"/>
          </a:xfrm>
          <a:prstGeom prst="straightConnector1">
            <a:avLst/>
          </a:prstGeom>
          <a:noFill/>
          <a:ln cap="flat" cmpd="sng" w="9525">
            <a:solidFill>
              <a:srgbClr val="FFFFFF"/>
            </a:solidFill>
            <a:prstDash val="solid"/>
            <a:round/>
            <a:headEnd len="med" w="med" type="none"/>
            <a:tailEnd len="med" w="med" type="none"/>
          </a:ln>
        </p:spPr>
      </p:cxnSp>
      <p:sp>
        <p:nvSpPr>
          <p:cNvPr id="170" name="Google Shape;170;p17"/>
          <p:cNvSpPr txBox="1"/>
          <p:nvPr/>
        </p:nvSpPr>
        <p:spPr>
          <a:xfrm>
            <a:off x="473375" y="2714750"/>
            <a:ext cx="946500" cy="1773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500">
                <a:solidFill>
                  <a:srgbClr val="FFFFFF"/>
                </a:solidFill>
                <a:latin typeface="Lato"/>
                <a:ea typeface="Lato"/>
                <a:cs typeface="Lato"/>
                <a:sym typeface="Lato"/>
              </a:rPr>
              <a:t>1890 - IBM is established</a:t>
            </a:r>
            <a:endParaRPr sz="500">
              <a:solidFill>
                <a:srgbClr val="FFFFFF"/>
              </a:solidFill>
              <a:latin typeface="Lato"/>
              <a:ea typeface="Lato"/>
              <a:cs typeface="Lato"/>
              <a:sym typeface="Lato"/>
            </a:endParaRPr>
          </a:p>
        </p:txBody>
      </p:sp>
      <p:cxnSp>
        <p:nvCxnSpPr>
          <p:cNvPr id="171" name="Google Shape;171;p17"/>
          <p:cNvCxnSpPr>
            <a:endCxn id="170" idx="0"/>
          </p:cNvCxnSpPr>
          <p:nvPr/>
        </p:nvCxnSpPr>
        <p:spPr>
          <a:xfrm flipH="1">
            <a:off x="946625" y="1761950"/>
            <a:ext cx="2332200" cy="952800"/>
          </a:xfrm>
          <a:prstGeom prst="straightConnector1">
            <a:avLst/>
          </a:prstGeom>
          <a:noFill/>
          <a:ln cap="flat" cmpd="sng" w="9525">
            <a:solidFill>
              <a:srgbClr val="FFFFFF"/>
            </a:solidFill>
            <a:prstDash val="solid"/>
            <a:round/>
            <a:headEnd len="med" w="med" type="none"/>
            <a:tailEnd len="med" w="med" type="none"/>
          </a:ln>
        </p:spPr>
      </p:cxnSp>
      <p:sp>
        <p:nvSpPr>
          <p:cNvPr id="172" name="Google Shape;172;p17"/>
          <p:cNvSpPr txBox="1"/>
          <p:nvPr/>
        </p:nvSpPr>
        <p:spPr>
          <a:xfrm>
            <a:off x="1867600" y="3364525"/>
            <a:ext cx="1993200" cy="1773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500">
                <a:solidFill>
                  <a:srgbClr val="FFFFFF"/>
                </a:solidFill>
                <a:latin typeface="Lato"/>
                <a:ea typeface="Lato"/>
                <a:cs typeface="Lato"/>
                <a:sym typeface="Lato"/>
              </a:rPr>
              <a:t>1937 - First </a:t>
            </a:r>
            <a:r>
              <a:rPr lang="en" sz="500">
                <a:solidFill>
                  <a:srgbClr val="FFFFFF"/>
                </a:solidFill>
                <a:latin typeface="Lato"/>
                <a:ea typeface="Lato"/>
                <a:cs typeface="Lato"/>
                <a:sym typeface="Lato"/>
              </a:rPr>
              <a:t>attempt</a:t>
            </a:r>
            <a:r>
              <a:rPr lang="en" sz="500">
                <a:solidFill>
                  <a:srgbClr val="FFFFFF"/>
                </a:solidFill>
                <a:latin typeface="Lato"/>
                <a:ea typeface="Lato"/>
                <a:cs typeface="Lato"/>
                <a:sym typeface="Lato"/>
              </a:rPr>
              <a:t> to build computer without mechanical parts </a:t>
            </a:r>
            <a:endParaRPr sz="500">
              <a:solidFill>
                <a:srgbClr val="FFFFFF"/>
              </a:solidFill>
              <a:latin typeface="Lato"/>
              <a:ea typeface="Lato"/>
              <a:cs typeface="Lato"/>
              <a:sym typeface="Lato"/>
            </a:endParaRPr>
          </a:p>
        </p:txBody>
      </p:sp>
      <p:cxnSp>
        <p:nvCxnSpPr>
          <p:cNvPr id="173" name="Google Shape;173;p17"/>
          <p:cNvCxnSpPr>
            <a:endCxn id="172" idx="0"/>
          </p:cNvCxnSpPr>
          <p:nvPr/>
        </p:nvCxnSpPr>
        <p:spPr>
          <a:xfrm flipH="1">
            <a:off x="2864200" y="1756225"/>
            <a:ext cx="1555200" cy="1608300"/>
          </a:xfrm>
          <a:prstGeom prst="straightConnector1">
            <a:avLst/>
          </a:prstGeom>
          <a:noFill/>
          <a:ln cap="flat" cmpd="sng" w="9525">
            <a:solidFill>
              <a:srgbClr val="FFFFFF"/>
            </a:solidFill>
            <a:prstDash val="solid"/>
            <a:round/>
            <a:headEnd len="med" w="med" type="none"/>
            <a:tailEnd len="med" w="med" type="none"/>
          </a:ln>
        </p:spPr>
      </p:cxnSp>
      <p:sp>
        <p:nvSpPr>
          <p:cNvPr id="174" name="Google Shape;174;p17"/>
          <p:cNvSpPr txBox="1"/>
          <p:nvPr/>
        </p:nvSpPr>
        <p:spPr>
          <a:xfrm>
            <a:off x="5023700" y="1412575"/>
            <a:ext cx="946500" cy="1773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500">
                <a:solidFill>
                  <a:srgbClr val="FFFFFF"/>
                </a:solidFill>
                <a:latin typeface="Lato"/>
                <a:ea typeface="Lato"/>
                <a:cs typeface="Lato"/>
                <a:sym typeface="Lato"/>
              </a:rPr>
              <a:t>1943-1944  - ENIAC is built</a:t>
            </a:r>
            <a:endParaRPr sz="500">
              <a:solidFill>
                <a:srgbClr val="FFFFFF"/>
              </a:solidFill>
              <a:latin typeface="Lato"/>
              <a:ea typeface="Lato"/>
              <a:cs typeface="Lato"/>
              <a:sym typeface="Lato"/>
            </a:endParaRPr>
          </a:p>
        </p:txBody>
      </p:sp>
      <p:cxnSp>
        <p:nvCxnSpPr>
          <p:cNvPr id="175" name="Google Shape;175;p17"/>
          <p:cNvCxnSpPr>
            <a:stCxn id="174" idx="2"/>
          </p:cNvCxnSpPr>
          <p:nvPr/>
        </p:nvCxnSpPr>
        <p:spPr>
          <a:xfrm flipH="1">
            <a:off x="4961150" y="1589875"/>
            <a:ext cx="535800" cy="164100"/>
          </a:xfrm>
          <a:prstGeom prst="straightConnector1">
            <a:avLst/>
          </a:prstGeom>
          <a:noFill/>
          <a:ln cap="flat" cmpd="sng" w="9525">
            <a:solidFill>
              <a:srgbClr val="FFFFFF"/>
            </a:solidFill>
            <a:prstDash val="solid"/>
            <a:round/>
            <a:headEnd len="med" w="med" type="none"/>
            <a:tailEnd len="med" w="med" type="none"/>
          </a:ln>
        </p:spPr>
      </p:cxnSp>
      <p:sp>
        <p:nvSpPr>
          <p:cNvPr id="176" name="Google Shape;176;p17"/>
          <p:cNvSpPr txBox="1"/>
          <p:nvPr/>
        </p:nvSpPr>
        <p:spPr>
          <a:xfrm>
            <a:off x="4040400" y="2807625"/>
            <a:ext cx="1063200" cy="1773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500">
                <a:solidFill>
                  <a:srgbClr val="FFFFFF"/>
                </a:solidFill>
                <a:latin typeface="Lato"/>
                <a:ea typeface="Lato"/>
                <a:cs typeface="Lato"/>
                <a:sym typeface="Lato"/>
              </a:rPr>
              <a:t>1946</a:t>
            </a:r>
            <a:r>
              <a:rPr lang="en" sz="500">
                <a:solidFill>
                  <a:srgbClr val="FFFFFF"/>
                </a:solidFill>
                <a:latin typeface="Lato"/>
                <a:ea typeface="Lato"/>
                <a:cs typeface="Lato"/>
                <a:sym typeface="Lato"/>
              </a:rPr>
              <a:t>  - UNIVAC is being started</a:t>
            </a:r>
            <a:endParaRPr sz="500">
              <a:solidFill>
                <a:srgbClr val="FFFFFF"/>
              </a:solidFill>
              <a:latin typeface="Lato"/>
              <a:ea typeface="Lato"/>
              <a:cs typeface="Lato"/>
              <a:sym typeface="Lato"/>
            </a:endParaRPr>
          </a:p>
        </p:txBody>
      </p:sp>
      <p:cxnSp>
        <p:nvCxnSpPr>
          <p:cNvPr id="177" name="Google Shape;177;p17"/>
          <p:cNvCxnSpPr>
            <a:stCxn id="176" idx="0"/>
          </p:cNvCxnSpPr>
          <p:nvPr/>
        </p:nvCxnSpPr>
        <p:spPr>
          <a:xfrm flipH="1" rot="10800000">
            <a:off x="4572000" y="1753725"/>
            <a:ext cx="525900" cy="1053900"/>
          </a:xfrm>
          <a:prstGeom prst="straightConnector1">
            <a:avLst/>
          </a:prstGeom>
          <a:noFill/>
          <a:ln cap="flat" cmpd="sng" w="9525">
            <a:solidFill>
              <a:srgbClr val="FFFFFF"/>
            </a:solidFill>
            <a:prstDash val="solid"/>
            <a:round/>
            <a:headEnd len="med" w="med" type="none"/>
            <a:tailEnd len="med" w="med" type="none"/>
          </a:ln>
        </p:spPr>
      </p:cxnSp>
      <p:sp>
        <p:nvSpPr>
          <p:cNvPr id="178" name="Google Shape;178;p17"/>
          <p:cNvSpPr txBox="1"/>
          <p:nvPr/>
        </p:nvSpPr>
        <p:spPr>
          <a:xfrm>
            <a:off x="4889425" y="3398675"/>
            <a:ext cx="1163400" cy="1773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500">
                <a:solidFill>
                  <a:srgbClr val="FFFFFF"/>
                </a:solidFill>
                <a:latin typeface="Lato"/>
                <a:ea typeface="Lato"/>
                <a:cs typeface="Lato"/>
                <a:sym typeface="Lato"/>
              </a:rPr>
              <a:t>1947  - The transistor is invented</a:t>
            </a:r>
            <a:endParaRPr sz="500">
              <a:solidFill>
                <a:srgbClr val="FFFFFF"/>
              </a:solidFill>
              <a:latin typeface="Lato"/>
              <a:ea typeface="Lato"/>
              <a:cs typeface="Lato"/>
              <a:sym typeface="Lato"/>
            </a:endParaRPr>
          </a:p>
        </p:txBody>
      </p:sp>
      <p:cxnSp>
        <p:nvCxnSpPr>
          <p:cNvPr id="179" name="Google Shape;179;p17"/>
          <p:cNvCxnSpPr>
            <a:stCxn id="178" idx="0"/>
          </p:cNvCxnSpPr>
          <p:nvPr/>
        </p:nvCxnSpPr>
        <p:spPr>
          <a:xfrm rot="10800000">
            <a:off x="5154925" y="1759475"/>
            <a:ext cx="316200" cy="1639200"/>
          </a:xfrm>
          <a:prstGeom prst="straightConnector1">
            <a:avLst/>
          </a:prstGeom>
          <a:noFill/>
          <a:ln cap="flat" cmpd="sng" w="9525">
            <a:solidFill>
              <a:srgbClr val="FFFFFF"/>
            </a:solidFill>
            <a:prstDash val="solid"/>
            <a:round/>
            <a:headEnd len="med" w="med" type="none"/>
            <a:tailEnd len="med" w="med" type="none"/>
          </a:ln>
        </p:spPr>
      </p:cxnSp>
      <p:sp>
        <p:nvSpPr>
          <p:cNvPr id="180" name="Google Shape;180;p17"/>
          <p:cNvSpPr txBox="1"/>
          <p:nvPr/>
        </p:nvSpPr>
        <p:spPr>
          <a:xfrm>
            <a:off x="5653600" y="3069300"/>
            <a:ext cx="1573800" cy="1773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500">
                <a:solidFill>
                  <a:srgbClr val="FFFFFF"/>
                </a:solidFill>
                <a:latin typeface="Lato"/>
                <a:ea typeface="Lato"/>
                <a:cs typeface="Lato"/>
                <a:sym typeface="Lato"/>
              </a:rPr>
              <a:t>1953  - Programming language COBOL is created</a:t>
            </a:r>
            <a:endParaRPr sz="500">
              <a:solidFill>
                <a:srgbClr val="FFFFFF"/>
              </a:solidFill>
              <a:latin typeface="Lato"/>
              <a:ea typeface="Lato"/>
              <a:cs typeface="Lato"/>
              <a:sym typeface="Lato"/>
            </a:endParaRPr>
          </a:p>
        </p:txBody>
      </p:sp>
      <p:cxnSp>
        <p:nvCxnSpPr>
          <p:cNvPr id="181" name="Google Shape;181;p17"/>
          <p:cNvCxnSpPr>
            <a:stCxn id="180" idx="0"/>
          </p:cNvCxnSpPr>
          <p:nvPr/>
        </p:nvCxnSpPr>
        <p:spPr>
          <a:xfrm rot="10800000">
            <a:off x="5656600" y="1759500"/>
            <a:ext cx="783900" cy="1309800"/>
          </a:xfrm>
          <a:prstGeom prst="straightConnector1">
            <a:avLst/>
          </a:prstGeom>
          <a:noFill/>
          <a:ln cap="flat" cmpd="sng" w="9525">
            <a:solidFill>
              <a:srgbClr val="FFFFFF"/>
            </a:solidFill>
            <a:prstDash val="solid"/>
            <a:round/>
            <a:headEnd len="med" w="med" type="none"/>
            <a:tailEnd len="med" w="med" type="none"/>
          </a:ln>
        </p:spPr>
      </p:cxnSp>
      <p:sp>
        <p:nvSpPr>
          <p:cNvPr id="182" name="Google Shape;182;p17"/>
          <p:cNvSpPr txBox="1"/>
          <p:nvPr/>
        </p:nvSpPr>
        <p:spPr>
          <a:xfrm>
            <a:off x="7045050" y="3341125"/>
            <a:ext cx="1816500" cy="1773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500">
                <a:solidFill>
                  <a:srgbClr val="FFFFFF"/>
                </a:solidFill>
                <a:latin typeface="Lato"/>
                <a:ea typeface="Lato"/>
                <a:cs typeface="Lato"/>
                <a:sym typeface="Lato"/>
              </a:rPr>
              <a:t>1954  - Programming language FORTRAN is developed</a:t>
            </a:r>
            <a:endParaRPr sz="500">
              <a:solidFill>
                <a:srgbClr val="FFFFFF"/>
              </a:solidFill>
              <a:latin typeface="Lato"/>
              <a:ea typeface="Lato"/>
              <a:cs typeface="Lato"/>
              <a:sym typeface="Lato"/>
            </a:endParaRPr>
          </a:p>
        </p:txBody>
      </p:sp>
      <p:cxnSp>
        <p:nvCxnSpPr>
          <p:cNvPr id="183" name="Google Shape;183;p17"/>
          <p:cNvCxnSpPr>
            <a:stCxn id="182" idx="0"/>
          </p:cNvCxnSpPr>
          <p:nvPr/>
        </p:nvCxnSpPr>
        <p:spPr>
          <a:xfrm rot="10800000">
            <a:off x="5736600" y="1753825"/>
            <a:ext cx="2216700" cy="1587300"/>
          </a:xfrm>
          <a:prstGeom prst="straightConnector1">
            <a:avLst/>
          </a:prstGeom>
          <a:noFill/>
          <a:ln cap="flat" cmpd="sng" w="9525">
            <a:solidFill>
              <a:srgbClr val="FFFFFF"/>
            </a:solidFill>
            <a:prstDash val="solid"/>
            <a:round/>
            <a:headEnd len="med" w="med" type="none"/>
            <a:tailEnd len="med" w="med" type="none"/>
          </a:ln>
        </p:spPr>
      </p:cxnSp>
      <p:sp>
        <p:nvSpPr>
          <p:cNvPr id="184" name="Google Shape;184;p17"/>
          <p:cNvSpPr txBox="1"/>
          <p:nvPr/>
        </p:nvSpPr>
        <p:spPr>
          <a:xfrm>
            <a:off x="6728675" y="207850"/>
            <a:ext cx="1816500" cy="1773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500">
                <a:solidFill>
                  <a:srgbClr val="FFFFFF"/>
                </a:solidFill>
                <a:latin typeface="Lato"/>
                <a:ea typeface="Lato"/>
                <a:cs typeface="Lato"/>
                <a:sym typeface="Lato"/>
              </a:rPr>
              <a:t>1958  - Integrated Circuit (IC) is announced and unveiled</a:t>
            </a:r>
            <a:endParaRPr sz="500">
              <a:solidFill>
                <a:srgbClr val="FFFFFF"/>
              </a:solidFill>
              <a:latin typeface="Lato"/>
              <a:ea typeface="Lato"/>
              <a:cs typeface="Lato"/>
              <a:sym typeface="Lato"/>
            </a:endParaRPr>
          </a:p>
        </p:txBody>
      </p:sp>
      <p:cxnSp>
        <p:nvCxnSpPr>
          <p:cNvPr id="185" name="Google Shape;185;p17"/>
          <p:cNvCxnSpPr>
            <a:stCxn id="184" idx="2"/>
          </p:cNvCxnSpPr>
          <p:nvPr/>
        </p:nvCxnSpPr>
        <p:spPr>
          <a:xfrm flipH="1">
            <a:off x="5907725" y="385150"/>
            <a:ext cx="1729200" cy="1377000"/>
          </a:xfrm>
          <a:prstGeom prst="straightConnector1">
            <a:avLst/>
          </a:prstGeom>
          <a:noFill/>
          <a:ln cap="flat" cmpd="sng" w="9525">
            <a:solidFill>
              <a:srgbClr val="FFFFFF"/>
            </a:solidFill>
            <a:prstDash val="solid"/>
            <a:round/>
            <a:headEnd len="med" w="med" type="none"/>
            <a:tailEnd len="med" w="med" type="none"/>
          </a:ln>
        </p:spPr>
      </p:cxnSp>
      <p:sp>
        <p:nvSpPr>
          <p:cNvPr id="186" name="Google Shape;186;p17"/>
          <p:cNvSpPr txBox="1"/>
          <p:nvPr/>
        </p:nvSpPr>
        <p:spPr>
          <a:xfrm>
            <a:off x="6728675" y="2220650"/>
            <a:ext cx="1036800" cy="1773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500">
                <a:solidFill>
                  <a:srgbClr val="FFFFFF"/>
                </a:solidFill>
                <a:latin typeface="Lato"/>
                <a:ea typeface="Lato"/>
                <a:cs typeface="Lato"/>
                <a:sym typeface="Lato"/>
              </a:rPr>
              <a:t>1964  - GUI is being developed</a:t>
            </a:r>
            <a:endParaRPr sz="500">
              <a:solidFill>
                <a:srgbClr val="FFFFFF"/>
              </a:solidFill>
              <a:latin typeface="Lato"/>
              <a:ea typeface="Lato"/>
              <a:cs typeface="Lato"/>
              <a:sym typeface="Lato"/>
            </a:endParaRPr>
          </a:p>
        </p:txBody>
      </p:sp>
      <p:cxnSp>
        <p:nvCxnSpPr>
          <p:cNvPr id="187" name="Google Shape;187;p17"/>
          <p:cNvCxnSpPr>
            <a:stCxn id="186" idx="0"/>
          </p:cNvCxnSpPr>
          <p:nvPr/>
        </p:nvCxnSpPr>
        <p:spPr>
          <a:xfrm rot="10800000">
            <a:off x="6078575" y="1759550"/>
            <a:ext cx="1168500" cy="461100"/>
          </a:xfrm>
          <a:prstGeom prst="straightConnector1">
            <a:avLst/>
          </a:prstGeom>
          <a:noFill/>
          <a:ln cap="flat" cmpd="sng" w="9525">
            <a:solidFill>
              <a:srgbClr val="FFFFFF"/>
            </a:solidFill>
            <a:prstDash val="solid"/>
            <a:round/>
            <a:headEnd len="med" w="med" type="none"/>
            <a:tailEnd len="med" w="med" type="none"/>
          </a:ln>
        </p:spPr>
      </p:cxnSp>
      <p:sp>
        <p:nvSpPr>
          <p:cNvPr id="188" name="Google Shape;188;p17"/>
          <p:cNvSpPr txBox="1"/>
          <p:nvPr/>
        </p:nvSpPr>
        <p:spPr>
          <a:xfrm>
            <a:off x="7702700" y="468450"/>
            <a:ext cx="842400" cy="1773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500">
                <a:solidFill>
                  <a:srgbClr val="FFFFFF"/>
                </a:solidFill>
                <a:latin typeface="Lato"/>
                <a:ea typeface="Lato"/>
                <a:cs typeface="Lato"/>
                <a:sym typeface="Lato"/>
              </a:rPr>
              <a:t>1968  - UNIX is created</a:t>
            </a:r>
            <a:endParaRPr sz="500">
              <a:solidFill>
                <a:srgbClr val="FFFFFF"/>
              </a:solidFill>
              <a:latin typeface="Lato"/>
              <a:ea typeface="Lato"/>
              <a:cs typeface="Lato"/>
              <a:sym typeface="Lato"/>
            </a:endParaRPr>
          </a:p>
        </p:txBody>
      </p:sp>
      <p:cxnSp>
        <p:nvCxnSpPr>
          <p:cNvPr id="189" name="Google Shape;189;p17"/>
          <p:cNvCxnSpPr>
            <a:stCxn id="188" idx="2"/>
          </p:cNvCxnSpPr>
          <p:nvPr/>
        </p:nvCxnSpPr>
        <p:spPr>
          <a:xfrm flipH="1">
            <a:off x="6249800" y="645750"/>
            <a:ext cx="1874100" cy="1113900"/>
          </a:xfrm>
          <a:prstGeom prst="straightConnector1">
            <a:avLst/>
          </a:prstGeom>
          <a:noFill/>
          <a:ln cap="flat" cmpd="sng" w="9525">
            <a:solidFill>
              <a:srgbClr val="FFFFFF"/>
            </a:solidFill>
            <a:prstDash val="solid"/>
            <a:round/>
            <a:headEnd len="med" w="med" type="none"/>
            <a:tailEnd len="med" w="med" type="none"/>
          </a:ln>
        </p:spPr>
      </p:cxnSp>
      <p:sp>
        <p:nvSpPr>
          <p:cNvPr id="190" name="Google Shape;190;p17"/>
          <p:cNvSpPr txBox="1"/>
          <p:nvPr/>
        </p:nvSpPr>
        <p:spPr>
          <a:xfrm>
            <a:off x="7702700" y="1154350"/>
            <a:ext cx="1101600" cy="1773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500">
                <a:solidFill>
                  <a:srgbClr val="FFFFFF"/>
                </a:solidFill>
                <a:latin typeface="Lato"/>
                <a:ea typeface="Lato"/>
                <a:cs typeface="Lato"/>
                <a:sym typeface="Lato"/>
              </a:rPr>
              <a:t>1970 to 2019</a:t>
            </a:r>
            <a:r>
              <a:rPr lang="en" sz="500">
                <a:solidFill>
                  <a:srgbClr val="FFFFFF"/>
                </a:solidFill>
                <a:latin typeface="Lato"/>
                <a:ea typeface="Lato"/>
                <a:cs typeface="Lato"/>
                <a:sym typeface="Lato"/>
              </a:rPr>
              <a:t>  - See next timeline</a:t>
            </a:r>
            <a:endParaRPr sz="500">
              <a:solidFill>
                <a:srgbClr val="FFFFFF"/>
              </a:solidFill>
              <a:latin typeface="Lato"/>
              <a:ea typeface="Lato"/>
              <a:cs typeface="Lato"/>
              <a:sym typeface="Lato"/>
            </a:endParaRPr>
          </a:p>
        </p:txBody>
      </p:sp>
      <p:cxnSp>
        <p:nvCxnSpPr>
          <p:cNvPr id="191" name="Google Shape;191;p17"/>
          <p:cNvCxnSpPr/>
          <p:nvPr/>
        </p:nvCxnSpPr>
        <p:spPr>
          <a:xfrm flipH="1">
            <a:off x="6336450" y="1149375"/>
            <a:ext cx="1378800" cy="599100"/>
          </a:xfrm>
          <a:prstGeom prst="straightConnector1">
            <a:avLst/>
          </a:prstGeom>
          <a:noFill/>
          <a:ln cap="flat" cmpd="sng" w="9525">
            <a:solidFill>
              <a:srgbClr val="FFFFFF"/>
            </a:solidFill>
            <a:prstDash val="solid"/>
            <a:round/>
            <a:headEnd len="med" w="med" type="none"/>
            <a:tailEnd len="med" w="med" type="none"/>
          </a:ln>
        </p:spPr>
      </p:cxnSp>
      <p:cxnSp>
        <p:nvCxnSpPr>
          <p:cNvPr id="192" name="Google Shape;192;p17"/>
          <p:cNvCxnSpPr/>
          <p:nvPr/>
        </p:nvCxnSpPr>
        <p:spPr>
          <a:xfrm flipH="1">
            <a:off x="7498500" y="1337550"/>
            <a:ext cx="1311600" cy="416400"/>
          </a:xfrm>
          <a:prstGeom prst="straightConnector1">
            <a:avLst/>
          </a:prstGeom>
          <a:noFill/>
          <a:ln cap="flat" cmpd="sng" w="9525">
            <a:solidFill>
              <a:srgbClr val="FFFFFF"/>
            </a:solidFill>
            <a:prstDash val="solid"/>
            <a:round/>
            <a:headEnd len="med" w="med" type="none"/>
            <a:tailEnd len="med" w="med"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6" name="Shape 196"/>
        <p:cNvGrpSpPr/>
        <p:nvPr/>
      </p:nvGrpSpPr>
      <p:grpSpPr>
        <a:xfrm>
          <a:off x="0" y="0"/>
          <a:ext cx="0" cy="0"/>
          <a:chOff x="0" y="0"/>
          <a:chExt cx="0" cy="0"/>
        </a:xfrm>
      </p:grpSpPr>
      <p:sp>
        <p:nvSpPr>
          <p:cNvPr id="197" name="Google Shape;197;p18"/>
          <p:cNvSpPr txBox="1"/>
          <p:nvPr>
            <p:ph idx="1" type="body"/>
          </p:nvPr>
        </p:nvSpPr>
        <p:spPr>
          <a:xfrm>
            <a:off x="812725" y="4305375"/>
            <a:ext cx="6936000" cy="523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This is a closer look at the time period when most computer advances take place.</a:t>
            </a:r>
            <a:endParaRPr/>
          </a:p>
        </p:txBody>
      </p:sp>
      <p:cxnSp>
        <p:nvCxnSpPr>
          <p:cNvPr id="198" name="Google Shape;198;p18"/>
          <p:cNvCxnSpPr/>
          <p:nvPr/>
        </p:nvCxnSpPr>
        <p:spPr>
          <a:xfrm>
            <a:off x="712800" y="1753975"/>
            <a:ext cx="6295500" cy="0"/>
          </a:xfrm>
          <a:prstGeom prst="straightConnector1">
            <a:avLst/>
          </a:prstGeom>
          <a:noFill/>
          <a:ln cap="flat" cmpd="sng" w="9525">
            <a:solidFill>
              <a:srgbClr val="FFFFFF"/>
            </a:solidFill>
            <a:prstDash val="solid"/>
            <a:round/>
            <a:headEnd len="med" w="med" type="none"/>
            <a:tailEnd len="med" w="med" type="none"/>
          </a:ln>
        </p:spPr>
      </p:cxnSp>
      <p:sp>
        <p:nvSpPr>
          <p:cNvPr id="199" name="Google Shape;199;p18"/>
          <p:cNvSpPr txBox="1"/>
          <p:nvPr/>
        </p:nvSpPr>
        <p:spPr>
          <a:xfrm>
            <a:off x="610150" y="1840275"/>
            <a:ext cx="484800" cy="111600"/>
          </a:xfrm>
          <a:prstGeom prst="rect">
            <a:avLst/>
          </a:prstGeom>
          <a:noFill/>
          <a:ln>
            <a:noFill/>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1000">
                <a:solidFill>
                  <a:srgbClr val="FFFFFF"/>
                </a:solidFill>
                <a:latin typeface="Lato"/>
                <a:ea typeface="Lato"/>
                <a:cs typeface="Lato"/>
                <a:sym typeface="Lato"/>
              </a:rPr>
              <a:t>1970</a:t>
            </a:r>
            <a:endParaRPr sz="1000">
              <a:solidFill>
                <a:srgbClr val="FFFFFF"/>
              </a:solidFill>
              <a:latin typeface="Lato"/>
              <a:ea typeface="Lato"/>
              <a:cs typeface="Lato"/>
              <a:sym typeface="Lato"/>
            </a:endParaRPr>
          </a:p>
        </p:txBody>
      </p:sp>
      <p:sp>
        <p:nvSpPr>
          <p:cNvPr id="200" name="Google Shape;200;p18"/>
          <p:cNvSpPr txBox="1"/>
          <p:nvPr/>
        </p:nvSpPr>
        <p:spPr>
          <a:xfrm>
            <a:off x="6539775" y="1840275"/>
            <a:ext cx="484800" cy="111600"/>
          </a:xfrm>
          <a:prstGeom prst="rect">
            <a:avLst/>
          </a:prstGeom>
          <a:noFill/>
          <a:ln>
            <a:noFill/>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1000">
                <a:solidFill>
                  <a:srgbClr val="FFFFFF"/>
                </a:solidFill>
                <a:latin typeface="Lato"/>
                <a:ea typeface="Lato"/>
                <a:cs typeface="Lato"/>
                <a:sym typeface="Lato"/>
              </a:rPr>
              <a:t>2019</a:t>
            </a:r>
            <a:endParaRPr sz="1000">
              <a:solidFill>
                <a:srgbClr val="FFFFFF"/>
              </a:solidFill>
              <a:latin typeface="Lato"/>
              <a:ea typeface="Lato"/>
              <a:cs typeface="Lato"/>
              <a:sym typeface="Lato"/>
            </a:endParaRPr>
          </a:p>
        </p:txBody>
      </p:sp>
      <p:sp>
        <p:nvSpPr>
          <p:cNvPr id="201" name="Google Shape;201;p18"/>
          <p:cNvSpPr txBox="1"/>
          <p:nvPr/>
        </p:nvSpPr>
        <p:spPr>
          <a:xfrm>
            <a:off x="1810450" y="1840275"/>
            <a:ext cx="484800" cy="111600"/>
          </a:xfrm>
          <a:prstGeom prst="rect">
            <a:avLst/>
          </a:prstGeom>
          <a:noFill/>
          <a:ln>
            <a:noFill/>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1000">
                <a:solidFill>
                  <a:srgbClr val="FFFFFF"/>
                </a:solidFill>
                <a:latin typeface="Lato"/>
                <a:ea typeface="Lato"/>
                <a:cs typeface="Lato"/>
                <a:sym typeface="Lato"/>
              </a:rPr>
              <a:t>1980</a:t>
            </a:r>
            <a:endParaRPr sz="1000">
              <a:solidFill>
                <a:srgbClr val="FFFFFF"/>
              </a:solidFill>
              <a:latin typeface="Lato"/>
              <a:ea typeface="Lato"/>
              <a:cs typeface="Lato"/>
              <a:sym typeface="Lato"/>
            </a:endParaRPr>
          </a:p>
        </p:txBody>
      </p:sp>
      <p:sp>
        <p:nvSpPr>
          <p:cNvPr id="202" name="Google Shape;202;p18"/>
          <p:cNvSpPr txBox="1"/>
          <p:nvPr/>
        </p:nvSpPr>
        <p:spPr>
          <a:xfrm>
            <a:off x="3010750" y="1840275"/>
            <a:ext cx="484800" cy="111600"/>
          </a:xfrm>
          <a:prstGeom prst="rect">
            <a:avLst/>
          </a:prstGeom>
          <a:noFill/>
          <a:ln>
            <a:noFill/>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1000">
                <a:solidFill>
                  <a:srgbClr val="FFFFFF"/>
                </a:solidFill>
                <a:latin typeface="Lato"/>
                <a:ea typeface="Lato"/>
                <a:cs typeface="Lato"/>
                <a:sym typeface="Lato"/>
              </a:rPr>
              <a:t>1990</a:t>
            </a:r>
            <a:endParaRPr sz="1000">
              <a:solidFill>
                <a:srgbClr val="FFFFFF"/>
              </a:solidFill>
              <a:latin typeface="Lato"/>
              <a:ea typeface="Lato"/>
              <a:cs typeface="Lato"/>
              <a:sym typeface="Lato"/>
            </a:endParaRPr>
          </a:p>
        </p:txBody>
      </p:sp>
      <p:sp>
        <p:nvSpPr>
          <p:cNvPr id="203" name="Google Shape;203;p18"/>
          <p:cNvSpPr txBox="1"/>
          <p:nvPr/>
        </p:nvSpPr>
        <p:spPr>
          <a:xfrm>
            <a:off x="939750" y="641125"/>
            <a:ext cx="1101600" cy="1773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500">
                <a:solidFill>
                  <a:srgbClr val="FFFFFF"/>
                </a:solidFill>
                <a:latin typeface="Lato"/>
                <a:ea typeface="Lato"/>
                <a:cs typeface="Lato"/>
                <a:sym typeface="Lato"/>
              </a:rPr>
              <a:t>1971  - Floppy Disk is invented</a:t>
            </a:r>
            <a:endParaRPr sz="500">
              <a:solidFill>
                <a:srgbClr val="FFFFFF"/>
              </a:solidFill>
              <a:latin typeface="Lato"/>
              <a:ea typeface="Lato"/>
              <a:cs typeface="Lato"/>
              <a:sym typeface="Lato"/>
            </a:endParaRPr>
          </a:p>
        </p:txBody>
      </p:sp>
      <p:cxnSp>
        <p:nvCxnSpPr>
          <p:cNvPr id="204" name="Google Shape;204;p18"/>
          <p:cNvCxnSpPr>
            <a:stCxn id="203" idx="2"/>
          </p:cNvCxnSpPr>
          <p:nvPr/>
        </p:nvCxnSpPr>
        <p:spPr>
          <a:xfrm flipH="1">
            <a:off x="929550" y="818425"/>
            <a:ext cx="561000" cy="935400"/>
          </a:xfrm>
          <a:prstGeom prst="straightConnector1">
            <a:avLst/>
          </a:prstGeom>
          <a:noFill/>
          <a:ln cap="flat" cmpd="sng" w="9525">
            <a:solidFill>
              <a:srgbClr val="FFFFFF"/>
            </a:solidFill>
            <a:prstDash val="solid"/>
            <a:round/>
            <a:headEnd len="med" w="med" type="none"/>
            <a:tailEnd len="med" w="med" type="none"/>
          </a:ln>
        </p:spPr>
      </p:cxnSp>
      <p:sp>
        <p:nvSpPr>
          <p:cNvPr id="205" name="Google Shape;205;p18"/>
          <p:cNvSpPr txBox="1"/>
          <p:nvPr/>
        </p:nvSpPr>
        <p:spPr>
          <a:xfrm>
            <a:off x="4436275" y="1840275"/>
            <a:ext cx="484800" cy="111600"/>
          </a:xfrm>
          <a:prstGeom prst="rect">
            <a:avLst/>
          </a:prstGeom>
          <a:noFill/>
          <a:ln>
            <a:noFill/>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1000">
                <a:solidFill>
                  <a:srgbClr val="FFFFFF"/>
                </a:solidFill>
                <a:latin typeface="Lato"/>
                <a:ea typeface="Lato"/>
                <a:cs typeface="Lato"/>
                <a:sym typeface="Lato"/>
              </a:rPr>
              <a:t>2000</a:t>
            </a:r>
            <a:endParaRPr sz="1000">
              <a:solidFill>
                <a:srgbClr val="FFFFFF"/>
              </a:solidFill>
              <a:latin typeface="Lato"/>
              <a:ea typeface="Lato"/>
              <a:cs typeface="Lato"/>
              <a:sym typeface="Lato"/>
            </a:endParaRPr>
          </a:p>
        </p:txBody>
      </p:sp>
      <p:sp>
        <p:nvSpPr>
          <p:cNvPr id="206" name="Google Shape;206;p18"/>
          <p:cNvSpPr txBox="1"/>
          <p:nvPr/>
        </p:nvSpPr>
        <p:spPr>
          <a:xfrm>
            <a:off x="5488013" y="1840275"/>
            <a:ext cx="484800" cy="111600"/>
          </a:xfrm>
          <a:prstGeom prst="rect">
            <a:avLst/>
          </a:prstGeom>
          <a:noFill/>
          <a:ln>
            <a:noFill/>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1000">
                <a:solidFill>
                  <a:srgbClr val="FFFFFF"/>
                </a:solidFill>
                <a:latin typeface="Lato"/>
                <a:ea typeface="Lato"/>
                <a:cs typeface="Lato"/>
                <a:sym typeface="Lato"/>
              </a:rPr>
              <a:t>2010</a:t>
            </a:r>
            <a:endParaRPr sz="1000">
              <a:solidFill>
                <a:srgbClr val="FFFFFF"/>
              </a:solidFill>
              <a:latin typeface="Lato"/>
              <a:ea typeface="Lato"/>
              <a:cs typeface="Lato"/>
              <a:sym typeface="Lato"/>
            </a:endParaRPr>
          </a:p>
        </p:txBody>
      </p:sp>
      <p:sp>
        <p:nvSpPr>
          <p:cNvPr id="207" name="Google Shape;207;p18"/>
          <p:cNvSpPr txBox="1"/>
          <p:nvPr/>
        </p:nvSpPr>
        <p:spPr>
          <a:xfrm>
            <a:off x="929550" y="2530450"/>
            <a:ext cx="858000" cy="1773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500">
                <a:solidFill>
                  <a:srgbClr val="FFFFFF"/>
                </a:solidFill>
                <a:latin typeface="Lato"/>
                <a:ea typeface="Lato"/>
                <a:cs typeface="Lato"/>
                <a:sym typeface="Lato"/>
              </a:rPr>
              <a:t>1976  - Apple is founded</a:t>
            </a:r>
            <a:endParaRPr sz="500">
              <a:solidFill>
                <a:srgbClr val="FFFFFF"/>
              </a:solidFill>
              <a:latin typeface="Lato"/>
              <a:ea typeface="Lato"/>
              <a:cs typeface="Lato"/>
              <a:sym typeface="Lato"/>
            </a:endParaRPr>
          </a:p>
        </p:txBody>
      </p:sp>
      <p:cxnSp>
        <p:nvCxnSpPr>
          <p:cNvPr id="208" name="Google Shape;208;p18"/>
          <p:cNvCxnSpPr>
            <a:endCxn id="207" idx="0"/>
          </p:cNvCxnSpPr>
          <p:nvPr/>
        </p:nvCxnSpPr>
        <p:spPr>
          <a:xfrm flipH="1">
            <a:off x="1358550" y="1765150"/>
            <a:ext cx="66900" cy="765300"/>
          </a:xfrm>
          <a:prstGeom prst="straightConnector1">
            <a:avLst/>
          </a:prstGeom>
          <a:noFill/>
          <a:ln cap="flat" cmpd="sng" w="9525">
            <a:solidFill>
              <a:srgbClr val="FFFFFF"/>
            </a:solidFill>
            <a:prstDash val="solid"/>
            <a:round/>
            <a:headEnd len="med" w="med" type="none"/>
            <a:tailEnd len="med" w="med" type="none"/>
          </a:ln>
        </p:spPr>
      </p:cxnSp>
      <p:sp>
        <p:nvSpPr>
          <p:cNvPr id="209" name="Google Shape;209;p18"/>
          <p:cNvSpPr txBox="1"/>
          <p:nvPr/>
        </p:nvSpPr>
        <p:spPr>
          <a:xfrm>
            <a:off x="1810450" y="898025"/>
            <a:ext cx="1101600" cy="1773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500">
                <a:solidFill>
                  <a:srgbClr val="FFFFFF"/>
                </a:solidFill>
                <a:latin typeface="Lato"/>
                <a:ea typeface="Lato"/>
                <a:cs typeface="Lato"/>
                <a:sym typeface="Lato"/>
              </a:rPr>
              <a:t>1981  - First IBM PC is released</a:t>
            </a:r>
            <a:endParaRPr sz="500">
              <a:solidFill>
                <a:srgbClr val="FFFFFF"/>
              </a:solidFill>
              <a:latin typeface="Lato"/>
              <a:ea typeface="Lato"/>
              <a:cs typeface="Lato"/>
              <a:sym typeface="Lato"/>
            </a:endParaRPr>
          </a:p>
        </p:txBody>
      </p:sp>
      <p:cxnSp>
        <p:nvCxnSpPr>
          <p:cNvPr id="210" name="Google Shape;210;p18"/>
          <p:cNvCxnSpPr>
            <a:stCxn id="209" idx="2"/>
          </p:cNvCxnSpPr>
          <p:nvPr/>
        </p:nvCxnSpPr>
        <p:spPr>
          <a:xfrm flipH="1">
            <a:off x="2218150" y="1075325"/>
            <a:ext cx="143100" cy="678600"/>
          </a:xfrm>
          <a:prstGeom prst="straightConnector1">
            <a:avLst/>
          </a:prstGeom>
          <a:noFill/>
          <a:ln cap="flat" cmpd="sng" w="9525">
            <a:solidFill>
              <a:srgbClr val="FFFFFF"/>
            </a:solidFill>
            <a:prstDash val="solid"/>
            <a:round/>
            <a:headEnd len="med" w="med" type="none"/>
            <a:tailEnd len="med" w="med" type="none"/>
          </a:ln>
        </p:spPr>
      </p:cxnSp>
      <p:sp>
        <p:nvSpPr>
          <p:cNvPr id="211" name="Google Shape;211;p18"/>
          <p:cNvSpPr txBox="1"/>
          <p:nvPr/>
        </p:nvSpPr>
        <p:spPr>
          <a:xfrm>
            <a:off x="1909150" y="2530450"/>
            <a:ext cx="1101600" cy="1773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500">
                <a:solidFill>
                  <a:srgbClr val="FFFFFF"/>
                </a:solidFill>
                <a:latin typeface="Lato"/>
                <a:ea typeface="Lato"/>
                <a:cs typeface="Lato"/>
                <a:sym typeface="Lato"/>
              </a:rPr>
              <a:t>1985  - Windows is announced</a:t>
            </a:r>
            <a:endParaRPr sz="500">
              <a:solidFill>
                <a:srgbClr val="FFFFFF"/>
              </a:solidFill>
              <a:latin typeface="Lato"/>
              <a:ea typeface="Lato"/>
              <a:cs typeface="Lato"/>
              <a:sym typeface="Lato"/>
            </a:endParaRPr>
          </a:p>
        </p:txBody>
      </p:sp>
      <p:cxnSp>
        <p:nvCxnSpPr>
          <p:cNvPr id="212" name="Google Shape;212;p18"/>
          <p:cNvCxnSpPr>
            <a:stCxn id="211" idx="0"/>
          </p:cNvCxnSpPr>
          <p:nvPr/>
        </p:nvCxnSpPr>
        <p:spPr>
          <a:xfrm flipH="1" rot="10800000">
            <a:off x="2459950" y="1767850"/>
            <a:ext cx="123300" cy="762600"/>
          </a:xfrm>
          <a:prstGeom prst="straightConnector1">
            <a:avLst/>
          </a:prstGeom>
          <a:noFill/>
          <a:ln cap="flat" cmpd="sng" w="9525">
            <a:solidFill>
              <a:srgbClr val="FFFFFF"/>
            </a:solidFill>
            <a:prstDash val="solid"/>
            <a:round/>
            <a:headEnd len="med" w="med" type="none"/>
            <a:tailEnd len="med" w="med" type="none"/>
          </a:ln>
        </p:spPr>
      </p:cxnSp>
      <p:sp>
        <p:nvSpPr>
          <p:cNvPr id="213" name="Google Shape;213;p18"/>
          <p:cNvSpPr txBox="1"/>
          <p:nvPr/>
        </p:nvSpPr>
        <p:spPr>
          <a:xfrm>
            <a:off x="2945400" y="641125"/>
            <a:ext cx="1206000" cy="1773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500">
                <a:solidFill>
                  <a:srgbClr val="FFFFFF"/>
                </a:solidFill>
                <a:latin typeface="Lato"/>
                <a:ea typeface="Lato"/>
                <a:cs typeface="Lato"/>
                <a:sym typeface="Lato"/>
              </a:rPr>
              <a:t>1985  - World Wide Web is launched</a:t>
            </a:r>
            <a:endParaRPr sz="500">
              <a:solidFill>
                <a:srgbClr val="FFFFFF"/>
              </a:solidFill>
              <a:latin typeface="Lato"/>
              <a:ea typeface="Lato"/>
              <a:cs typeface="Lato"/>
              <a:sym typeface="Lato"/>
            </a:endParaRPr>
          </a:p>
        </p:txBody>
      </p:sp>
      <p:cxnSp>
        <p:nvCxnSpPr>
          <p:cNvPr id="214" name="Google Shape;214;p18"/>
          <p:cNvCxnSpPr>
            <a:endCxn id="213" idx="2"/>
          </p:cNvCxnSpPr>
          <p:nvPr/>
        </p:nvCxnSpPr>
        <p:spPr>
          <a:xfrm flipH="1" rot="10800000">
            <a:off x="2594400" y="818425"/>
            <a:ext cx="954000" cy="937800"/>
          </a:xfrm>
          <a:prstGeom prst="straightConnector1">
            <a:avLst/>
          </a:prstGeom>
          <a:noFill/>
          <a:ln cap="flat" cmpd="sng" w="9525">
            <a:solidFill>
              <a:srgbClr val="FFFFFF"/>
            </a:solidFill>
            <a:prstDash val="solid"/>
            <a:round/>
            <a:headEnd len="med" w="med" type="none"/>
            <a:tailEnd len="med" w="med" type="none"/>
          </a:ln>
        </p:spPr>
      </p:cxnSp>
      <p:sp>
        <p:nvSpPr>
          <p:cNvPr id="215" name="Google Shape;215;p18"/>
          <p:cNvSpPr txBox="1"/>
          <p:nvPr/>
        </p:nvSpPr>
        <p:spPr>
          <a:xfrm>
            <a:off x="3519775" y="976000"/>
            <a:ext cx="916500" cy="1773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500">
                <a:solidFill>
                  <a:srgbClr val="FFFFFF"/>
                </a:solidFill>
                <a:latin typeface="Lato"/>
                <a:ea typeface="Lato"/>
                <a:cs typeface="Lato"/>
                <a:sym typeface="Lato"/>
              </a:rPr>
              <a:t>1996  - Google is founded</a:t>
            </a:r>
            <a:endParaRPr sz="500">
              <a:solidFill>
                <a:srgbClr val="FFFFFF"/>
              </a:solidFill>
              <a:latin typeface="Lato"/>
              <a:ea typeface="Lato"/>
              <a:cs typeface="Lato"/>
              <a:sym typeface="Lato"/>
            </a:endParaRPr>
          </a:p>
        </p:txBody>
      </p:sp>
      <p:cxnSp>
        <p:nvCxnSpPr>
          <p:cNvPr id="216" name="Google Shape;216;p18"/>
          <p:cNvCxnSpPr>
            <a:endCxn id="215" idx="2"/>
          </p:cNvCxnSpPr>
          <p:nvPr/>
        </p:nvCxnSpPr>
        <p:spPr>
          <a:xfrm rot="10800000">
            <a:off x="3978025" y="1153300"/>
            <a:ext cx="13500" cy="589200"/>
          </a:xfrm>
          <a:prstGeom prst="straightConnector1">
            <a:avLst/>
          </a:prstGeom>
          <a:noFill/>
          <a:ln cap="flat" cmpd="sng" w="9525">
            <a:solidFill>
              <a:srgbClr val="FFFFFF"/>
            </a:solidFill>
            <a:prstDash val="solid"/>
            <a:round/>
            <a:headEnd len="med" w="med" type="none"/>
            <a:tailEnd len="med" w="med" type="none"/>
          </a:ln>
        </p:spPr>
      </p:cxnSp>
      <p:sp>
        <p:nvSpPr>
          <p:cNvPr id="217" name="Google Shape;217;p18"/>
          <p:cNvSpPr txBox="1"/>
          <p:nvPr/>
        </p:nvSpPr>
        <p:spPr>
          <a:xfrm>
            <a:off x="3198875" y="2530450"/>
            <a:ext cx="1055100" cy="1773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500">
                <a:solidFill>
                  <a:srgbClr val="FFFFFF"/>
                </a:solidFill>
                <a:latin typeface="Lato"/>
                <a:ea typeface="Lato"/>
                <a:cs typeface="Lato"/>
                <a:sym typeface="Lato"/>
              </a:rPr>
              <a:t>1999  - Wi-Fi </a:t>
            </a:r>
            <a:r>
              <a:rPr lang="en" sz="500">
                <a:solidFill>
                  <a:srgbClr val="FFFFFF"/>
                </a:solidFill>
                <a:latin typeface="Lato"/>
                <a:ea typeface="Lato"/>
                <a:cs typeface="Lato"/>
                <a:sym typeface="Lato"/>
              </a:rPr>
              <a:t>becomes</a:t>
            </a:r>
            <a:r>
              <a:rPr lang="en" sz="500">
                <a:solidFill>
                  <a:srgbClr val="FFFFFF"/>
                </a:solidFill>
                <a:latin typeface="Lato"/>
                <a:ea typeface="Lato"/>
                <a:cs typeface="Lato"/>
                <a:sym typeface="Lato"/>
              </a:rPr>
              <a:t> popular</a:t>
            </a:r>
            <a:endParaRPr sz="500">
              <a:solidFill>
                <a:srgbClr val="FFFFFF"/>
              </a:solidFill>
              <a:latin typeface="Lato"/>
              <a:ea typeface="Lato"/>
              <a:cs typeface="Lato"/>
              <a:sym typeface="Lato"/>
            </a:endParaRPr>
          </a:p>
        </p:txBody>
      </p:sp>
      <p:cxnSp>
        <p:nvCxnSpPr>
          <p:cNvPr id="218" name="Google Shape;218;p18"/>
          <p:cNvCxnSpPr>
            <a:endCxn id="217" idx="0"/>
          </p:cNvCxnSpPr>
          <p:nvPr/>
        </p:nvCxnSpPr>
        <p:spPr>
          <a:xfrm flipH="1">
            <a:off x="3726425" y="1759450"/>
            <a:ext cx="698400" cy="771000"/>
          </a:xfrm>
          <a:prstGeom prst="straightConnector1">
            <a:avLst/>
          </a:prstGeom>
          <a:noFill/>
          <a:ln cap="flat" cmpd="sng" w="9525">
            <a:solidFill>
              <a:srgbClr val="FFFFFF"/>
            </a:solidFill>
            <a:prstDash val="solid"/>
            <a:round/>
            <a:headEnd len="med" w="med" type="none"/>
            <a:tailEnd len="med" w="med" type="none"/>
          </a:ln>
        </p:spPr>
      </p:cxnSp>
      <p:sp>
        <p:nvSpPr>
          <p:cNvPr id="219" name="Google Shape;219;p18"/>
          <p:cNvSpPr txBox="1"/>
          <p:nvPr/>
        </p:nvSpPr>
        <p:spPr>
          <a:xfrm>
            <a:off x="4691325" y="407625"/>
            <a:ext cx="1028100" cy="1773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500">
                <a:solidFill>
                  <a:srgbClr val="FFFFFF"/>
                </a:solidFill>
                <a:latin typeface="Lato"/>
                <a:ea typeface="Lato"/>
                <a:cs typeface="Lato"/>
                <a:sym typeface="Lato"/>
              </a:rPr>
              <a:t>2001</a:t>
            </a:r>
            <a:r>
              <a:rPr lang="en" sz="500">
                <a:solidFill>
                  <a:srgbClr val="FFFFFF"/>
                </a:solidFill>
                <a:latin typeface="Lato"/>
                <a:ea typeface="Lato"/>
                <a:cs typeface="Lato"/>
                <a:sym typeface="Lato"/>
              </a:rPr>
              <a:t>  - Mac OS X is unveiled</a:t>
            </a:r>
            <a:endParaRPr sz="500">
              <a:solidFill>
                <a:srgbClr val="FFFFFF"/>
              </a:solidFill>
              <a:latin typeface="Lato"/>
              <a:ea typeface="Lato"/>
              <a:cs typeface="Lato"/>
              <a:sym typeface="Lato"/>
            </a:endParaRPr>
          </a:p>
        </p:txBody>
      </p:sp>
      <p:cxnSp>
        <p:nvCxnSpPr>
          <p:cNvPr id="220" name="Google Shape;220;p18"/>
          <p:cNvCxnSpPr>
            <a:endCxn id="219" idx="2"/>
          </p:cNvCxnSpPr>
          <p:nvPr/>
        </p:nvCxnSpPr>
        <p:spPr>
          <a:xfrm flipH="1" rot="10800000">
            <a:off x="4812675" y="584925"/>
            <a:ext cx="392700" cy="1168800"/>
          </a:xfrm>
          <a:prstGeom prst="straightConnector1">
            <a:avLst/>
          </a:prstGeom>
          <a:noFill/>
          <a:ln cap="flat" cmpd="sng" w="9525">
            <a:solidFill>
              <a:srgbClr val="FFFFFF"/>
            </a:solidFill>
            <a:prstDash val="solid"/>
            <a:round/>
            <a:headEnd len="med" w="med" type="none"/>
            <a:tailEnd len="med" w="med" type="none"/>
          </a:ln>
        </p:spPr>
      </p:cxnSp>
      <p:sp>
        <p:nvSpPr>
          <p:cNvPr id="221" name="Google Shape;221;p18"/>
          <p:cNvSpPr txBox="1"/>
          <p:nvPr/>
        </p:nvSpPr>
        <p:spPr>
          <a:xfrm>
            <a:off x="4222175" y="3207225"/>
            <a:ext cx="1303500" cy="1773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500">
                <a:solidFill>
                  <a:srgbClr val="FFFFFF"/>
                </a:solidFill>
                <a:latin typeface="Lato"/>
                <a:ea typeface="Lato"/>
                <a:cs typeface="Lato"/>
                <a:sym typeface="Lato"/>
              </a:rPr>
              <a:t>2003  - First 64-bit processor is released</a:t>
            </a:r>
            <a:endParaRPr sz="500">
              <a:solidFill>
                <a:srgbClr val="FFFFFF"/>
              </a:solidFill>
              <a:latin typeface="Lato"/>
              <a:ea typeface="Lato"/>
              <a:cs typeface="Lato"/>
              <a:sym typeface="Lato"/>
            </a:endParaRPr>
          </a:p>
        </p:txBody>
      </p:sp>
      <p:cxnSp>
        <p:nvCxnSpPr>
          <p:cNvPr id="222" name="Google Shape;222;p18"/>
          <p:cNvCxnSpPr>
            <a:stCxn id="221" idx="0"/>
          </p:cNvCxnSpPr>
          <p:nvPr/>
        </p:nvCxnSpPr>
        <p:spPr>
          <a:xfrm flipH="1" rot="10800000">
            <a:off x="4873925" y="1759425"/>
            <a:ext cx="69900" cy="1447800"/>
          </a:xfrm>
          <a:prstGeom prst="straightConnector1">
            <a:avLst/>
          </a:prstGeom>
          <a:noFill/>
          <a:ln cap="flat" cmpd="sng" w="9525">
            <a:solidFill>
              <a:srgbClr val="FFFFFF"/>
            </a:solidFill>
            <a:prstDash val="solid"/>
            <a:round/>
            <a:headEnd len="med" w="med" type="none"/>
            <a:tailEnd len="med" w="med" type="none"/>
          </a:ln>
        </p:spPr>
      </p:cxnSp>
      <p:sp>
        <p:nvSpPr>
          <p:cNvPr id="223" name="Google Shape;223;p18"/>
          <p:cNvSpPr txBox="1"/>
          <p:nvPr/>
        </p:nvSpPr>
        <p:spPr>
          <a:xfrm>
            <a:off x="5315475" y="641125"/>
            <a:ext cx="916500" cy="1773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500">
                <a:solidFill>
                  <a:srgbClr val="FFFFFF"/>
                </a:solidFill>
                <a:latin typeface="Lato"/>
                <a:ea typeface="Lato"/>
                <a:cs typeface="Lato"/>
                <a:sym typeface="Lato"/>
              </a:rPr>
              <a:t>2004  - Firefox is launched</a:t>
            </a:r>
            <a:endParaRPr sz="500">
              <a:solidFill>
                <a:srgbClr val="FFFFFF"/>
              </a:solidFill>
              <a:latin typeface="Lato"/>
              <a:ea typeface="Lato"/>
              <a:cs typeface="Lato"/>
              <a:sym typeface="Lato"/>
            </a:endParaRPr>
          </a:p>
        </p:txBody>
      </p:sp>
      <p:cxnSp>
        <p:nvCxnSpPr>
          <p:cNvPr id="224" name="Google Shape;224;p18"/>
          <p:cNvCxnSpPr>
            <a:endCxn id="223" idx="2"/>
          </p:cNvCxnSpPr>
          <p:nvPr/>
        </p:nvCxnSpPr>
        <p:spPr>
          <a:xfrm flipH="1" rot="10800000">
            <a:off x="5012325" y="818425"/>
            <a:ext cx="761400" cy="929700"/>
          </a:xfrm>
          <a:prstGeom prst="straightConnector1">
            <a:avLst/>
          </a:prstGeom>
          <a:noFill/>
          <a:ln cap="flat" cmpd="sng" w="9525">
            <a:solidFill>
              <a:srgbClr val="FFFFFF"/>
            </a:solidFill>
            <a:prstDash val="solid"/>
            <a:round/>
            <a:headEnd len="med" w="med" type="none"/>
            <a:tailEnd len="med" w="med" type="none"/>
          </a:ln>
        </p:spPr>
      </p:cxnSp>
      <p:sp>
        <p:nvSpPr>
          <p:cNvPr id="225" name="Google Shape;225;p18"/>
          <p:cNvSpPr txBox="1"/>
          <p:nvPr/>
        </p:nvSpPr>
        <p:spPr>
          <a:xfrm>
            <a:off x="5012350" y="2973725"/>
            <a:ext cx="1140300" cy="1773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500">
                <a:solidFill>
                  <a:srgbClr val="FFFFFF"/>
                </a:solidFill>
                <a:latin typeface="Lato"/>
                <a:ea typeface="Lato"/>
                <a:cs typeface="Lato"/>
                <a:sym typeface="Lato"/>
              </a:rPr>
              <a:t>2006  - Macbook Pro is introduced</a:t>
            </a:r>
            <a:endParaRPr sz="500">
              <a:solidFill>
                <a:srgbClr val="FFFFFF"/>
              </a:solidFill>
              <a:latin typeface="Lato"/>
              <a:ea typeface="Lato"/>
              <a:cs typeface="Lato"/>
              <a:sym typeface="Lato"/>
            </a:endParaRPr>
          </a:p>
        </p:txBody>
      </p:sp>
      <p:cxnSp>
        <p:nvCxnSpPr>
          <p:cNvPr id="226" name="Google Shape;226;p18"/>
          <p:cNvCxnSpPr>
            <a:stCxn id="225" idx="0"/>
          </p:cNvCxnSpPr>
          <p:nvPr/>
        </p:nvCxnSpPr>
        <p:spPr>
          <a:xfrm rot="10800000">
            <a:off x="5234800" y="1759325"/>
            <a:ext cx="347700" cy="1214400"/>
          </a:xfrm>
          <a:prstGeom prst="straightConnector1">
            <a:avLst/>
          </a:prstGeom>
          <a:noFill/>
          <a:ln cap="flat" cmpd="sng" w="9525">
            <a:solidFill>
              <a:srgbClr val="FFFFFF"/>
            </a:solidFill>
            <a:prstDash val="solid"/>
            <a:round/>
            <a:headEnd len="med" w="med" type="none"/>
            <a:tailEnd len="med" w="med" type="none"/>
          </a:ln>
        </p:spPr>
      </p:cxnSp>
      <p:sp>
        <p:nvSpPr>
          <p:cNvPr id="227" name="Google Shape;227;p18"/>
          <p:cNvSpPr txBox="1"/>
          <p:nvPr/>
        </p:nvSpPr>
        <p:spPr>
          <a:xfrm>
            <a:off x="6108075" y="407625"/>
            <a:ext cx="916500" cy="1773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500">
                <a:solidFill>
                  <a:srgbClr val="FFFFFF"/>
                </a:solidFill>
                <a:latin typeface="Lato"/>
                <a:ea typeface="Lato"/>
                <a:cs typeface="Lato"/>
                <a:sym typeface="Lato"/>
              </a:rPr>
              <a:t>2007  - iPhone is released</a:t>
            </a:r>
            <a:endParaRPr sz="500">
              <a:solidFill>
                <a:srgbClr val="FFFFFF"/>
              </a:solidFill>
              <a:latin typeface="Lato"/>
              <a:ea typeface="Lato"/>
              <a:cs typeface="Lato"/>
              <a:sym typeface="Lato"/>
            </a:endParaRPr>
          </a:p>
        </p:txBody>
      </p:sp>
      <p:cxnSp>
        <p:nvCxnSpPr>
          <p:cNvPr id="228" name="Google Shape;228;p18"/>
          <p:cNvCxnSpPr>
            <a:endCxn id="227" idx="2"/>
          </p:cNvCxnSpPr>
          <p:nvPr/>
        </p:nvCxnSpPr>
        <p:spPr>
          <a:xfrm flipH="1" rot="10800000">
            <a:off x="5480025" y="584925"/>
            <a:ext cx="1086300" cy="1160100"/>
          </a:xfrm>
          <a:prstGeom prst="straightConnector1">
            <a:avLst/>
          </a:prstGeom>
          <a:noFill/>
          <a:ln cap="flat" cmpd="sng" w="9525">
            <a:solidFill>
              <a:srgbClr val="FFFFFF"/>
            </a:solidFill>
            <a:prstDash val="solid"/>
            <a:round/>
            <a:headEnd len="med" w="med" type="none"/>
            <a:tailEnd len="med" w="med" type="none"/>
          </a:ln>
        </p:spPr>
      </p:cxnSp>
      <p:sp>
        <p:nvSpPr>
          <p:cNvPr id="229" name="Google Shape;229;p18"/>
          <p:cNvSpPr txBox="1"/>
          <p:nvPr/>
        </p:nvSpPr>
        <p:spPr>
          <a:xfrm>
            <a:off x="6634700" y="675400"/>
            <a:ext cx="983700" cy="1773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500">
                <a:solidFill>
                  <a:srgbClr val="FFFFFF"/>
                </a:solidFill>
                <a:latin typeface="Lato"/>
                <a:ea typeface="Lato"/>
                <a:cs typeface="Lato"/>
                <a:sym typeface="Lato"/>
              </a:rPr>
              <a:t>2009  - Windows 7 launches</a:t>
            </a:r>
            <a:endParaRPr sz="500">
              <a:solidFill>
                <a:srgbClr val="FFFFFF"/>
              </a:solidFill>
              <a:latin typeface="Lato"/>
              <a:ea typeface="Lato"/>
              <a:cs typeface="Lato"/>
              <a:sym typeface="Lato"/>
            </a:endParaRPr>
          </a:p>
        </p:txBody>
      </p:sp>
      <p:cxnSp>
        <p:nvCxnSpPr>
          <p:cNvPr id="230" name="Google Shape;230;p18"/>
          <p:cNvCxnSpPr>
            <a:endCxn id="229" idx="2"/>
          </p:cNvCxnSpPr>
          <p:nvPr/>
        </p:nvCxnSpPr>
        <p:spPr>
          <a:xfrm flipH="1" rot="10800000">
            <a:off x="5588150" y="852700"/>
            <a:ext cx="1538400" cy="897900"/>
          </a:xfrm>
          <a:prstGeom prst="straightConnector1">
            <a:avLst/>
          </a:prstGeom>
          <a:noFill/>
          <a:ln cap="flat" cmpd="sng" w="9525">
            <a:solidFill>
              <a:srgbClr val="FFFFFF"/>
            </a:solidFill>
            <a:prstDash val="solid"/>
            <a:round/>
            <a:headEnd len="med" w="med" type="none"/>
            <a:tailEnd len="med" w="med" type="none"/>
          </a:ln>
        </p:spPr>
      </p:cxnSp>
      <p:sp>
        <p:nvSpPr>
          <p:cNvPr id="231" name="Google Shape;231;p18"/>
          <p:cNvSpPr txBox="1"/>
          <p:nvPr/>
        </p:nvSpPr>
        <p:spPr>
          <a:xfrm>
            <a:off x="7169150" y="898025"/>
            <a:ext cx="858000" cy="1773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500">
                <a:solidFill>
                  <a:srgbClr val="FFFFFF"/>
                </a:solidFill>
                <a:latin typeface="Lato"/>
                <a:ea typeface="Lato"/>
                <a:cs typeface="Lato"/>
                <a:sym typeface="Lato"/>
              </a:rPr>
              <a:t>2010  - iPad is released</a:t>
            </a:r>
            <a:endParaRPr sz="500">
              <a:solidFill>
                <a:srgbClr val="FFFFFF"/>
              </a:solidFill>
              <a:latin typeface="Lato"/>
              <a:ea typeface="Lato"/>
              <a:cs typeface="Lato"/>
              <a:sym typeface="Lato"/>
            </a:endParaRPr>
          </a:p>
        </p:txBody>
      </p:sp>
      <p:cxnSp>
        <p:nvCxnSpPr>
          <p:cNvPr id="232" name="Google Shape;232;p18"/>
          <p:cNvCxnSpPr>
            <a:endCxn id="231" idx="2"/>
          </p:cNvCxnSpPr>
          <p:nvPr/>
        </p:nvCxnSpPr>
        <p:spPr>
          <a:xfrm flipH="1" rot="10800000">
            <a:off x="5753750" y="1075325"/>
            <a:ext cx="1844400" cy="681000"/>
          </a:xfrm>
          <a:prstGeom prst="straightConnector1">
            <a:avLst/>
          </a:prstGeom>
          <a:noFill/>
          <a:ln cap="flat" cmpd="sng" w="9525">
            <a:solidFill>
              <a:srgbClr val="FFFFFF"/>
            </a:solidFill>
            <a:prstDash val="solid"/>
            <a:round/>
            <a:headEnd len="med" w="med" type="none"/>
            <a:tailEnd len="med" w="med" type="none"/>
          </a:ln>
        </p:spPr>
      </p:cxnSp>
      <p:sp>
        <p:nvSpPr>
          <p:cNvPr id="233" name="Google Shape;233;p18"/>
          <p:cNvSpPr txBox="1"/>
          <p:nvPr/>
        </p:nvSpPr>
        <p:spPr>
          <a:xfrm>
            <a:off x="5753650" y="3272950"/>
            <a:ext cx="1086300" cy="1773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500">
                <a:solidFill>
                  <a:srgbClr val="FFFFFF"/>
                </a:solidFill>
                <a:latin typeface="Lato"/>
                <a:ea typeface="Lato"/>
                <a:cs typeface="Lato"/>
                <a:sym typeface="Lato"/>
              </a:rPr>
              <a:t>2011  - Chromebook is released</a:t>
            </a:r>
            <a:endParaRPr sz="500">
              <a:solidFill>
                <a:srgbClr val="FFFFFF"/>
              </a:solidFill>
              <a:latin typeface="Lato"/>
              <a:ea typeface="Lato"/>
              <a:cs typeface="Lato"/>
              <a:sym typeface="Lato"/>
            </a:endParaRPr>
          </a:p>
        </p:txBody>
      </p:sp>
      <p:cxnSp>
        <p:nvCxnSpPr>
          <p:cNvPr id="234" name="Google Shape;234;p18"/>
          <p:cNvCxnSpPr>
            <a:stCxn id="233" idx="0"/>
          </p:cNvCxnSpPr>
          <p:nvPr/>
        </p:nvCxnSpPr>
        <p:spPr>
          <a:xfrm rot="10800000">
            <a:off x="5964700" y="1767850"/>
            <a:ext cx="332100" cy="1505100"/>
          </a:xfrm>
          <a:prstGeom prst="straightConnector1">
            <a:avLst/>
          </a:prstGeom>
          <a:noFill/>
          <a:ln cap="flat" cmpd="sng" w="9525">
            <a:solidFill>
              <a:srgbClr val="FFFFFF"/>
            </a:solidFill>
            <a:prstDash val="solid"/>
            <a:round/>
            <a:headEnd len="med" w="med" type="none"/>
            <a:tailEnd len="med" w="med" type="none"/>
          </a:ln>
        </p:spPr>
      </p:cxnSp>
      <p:sp>
        <p:nvSpPr>
          <p:cNvPr id="235" name="Google Shape;235;p18"/>
          <p:cNvSpPr txBox="1"/>
          <p:nvPr/>
        </p:nvSpPr>
        <p:spPr>
          <a:xfrm>
            <a:off x="7609875" y="1120650"/>
            <a:ext cx="1028100" cy="1773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500">
                <a:solidFill>
                  <a:srgbClr val="FFFFFF"/>
                </a:solidFill>
                <a:latin typeface="Lato"/>
                <a:ea typeface="Lato"/>
                <a:cs typeface="Lato"/>
                <a:sym typeface="Lato"/>
              </a:rPr>
              <a:t>2010  - Minecraft is launched</a:t>
            </a:r>
            <a:endParaRPr sz="500">
              <a:solidFill>
                <a:srgbClr val="FFFFFF"/>
              </a:solidFill>
              <a:latin typeface="Lato"/>
              <a:ea typeface="Lato"/>
              <a:cs typeface="Lato"/>
              <a:sym typeface="Lato"/>
            </a:endParaRPr>
          </a:p>
        </p:txBody>
      </p:sp>
      <p:cxnSp>
        <p:nvCxnSpPr>
          <p:cNvPr id="236" name="Google Shape;236;p18"/>
          <p:cNvCxnSpPr>
            <a:endCxn id="235" idx="2"/>
          </p:cNvCxnSpPr>
          <p:nvPr/>
        </p:nvCxnSpPr>
        <p:spPr>
          <a:xfrm flipH="1" rot="10800000">
            <a:off x="5804925" y="1297950"/>
            <a:ext cx="2319000" cy="452700"/>
          </a:xfrm>
          <a:prstGeom prst="straightConnector1">
            <a:avLst/>
          </a:prstGeom>
          <a:noFill/>
          <a:ln cap="flat" cmpd="sng" w="9525">
            <a:solidFill>
              <a:srgbClr val="FFFFFF"/>
            </a:solidFill>
            <a:prstDash val="solid"/>
            <a:round/>
            <a:headEnd len="med" w="med" type="none"/>
            <a:tailEnd len="med" w="med" type="none"/>
          </a:ln>
        </p:spPr>
      </p:cxnSp>
      <p:sp>
        <p:nvSpPr>
          <p:cNvPr id="237" name="Google Shape;237;p18"/>
          <p:cNvSpPr txBox="1"/>
          <p:nvPr/>
        </p:nvSpPr>
        <p:spPr>
          <a:xfrm>
            <a:off x="6412400" y="3039975"/>
            <a:ext cx="1206000" cy="1773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500">
                <a:solidFill>
                  <a:srgbClr val="FFFFFF"/>
                </a:solidFill>
                <a:latin typeface="Lato"/>
                <a:ea typeface="Lato"/>
                <a:cs typeface="Lato"/>
                <a:sym typeface="Lato"/>
              </a:rPr>
              <a:t>2012  - Facebook gets over 1M users</a:t>
            </a:r>
            <a:endParaRPr sz="500">
              <a:solidFill>
                <a:srgbClr val="FFFFFF"/>
              </a:solidFill>
              <a:latin typeface="Lato"/>
              <a:ea typeface="Lato"/>
              <a:cs typeface="Lato"/>
              <a:sym typeface="Lato"/>
            </a:endParaRPr>
          </a:p>
        </p:txBody>
      </p:sp>
      <p:cxnSp>
        <p:nvCxnSpPr>
          <p:cNvPr id="238" name="Google Shape;238;p18"/>
          <p:cNvCxnSpPr>
            <a:stCxn id="237" idx="0"/>
          </p:cNvCxnSpPr>
          <p:nvPr/>
        </p:nvCxnSpPr>
        <p:spPr>
          <a:xfrm rot="10800000">
            <a:off x="6038900" y="1761975"/>
            <a:ext cx="976500" cy="1278000"/>
          </a:xfrm>
          <a:prstGeom prst="straightConnector1">
            <a:avLst/>
          </a:prstGeom>
          <a:noFill/>
          <a:ln cap="flat" cmpd="sng" w="9525">
            <a:solidFill>
              <a:srgbClr val="FFFFFF"/>
            </a:solidFill>
            <a:prstDash val="solid"/>
            <a:round/>
            <a:headEnd len="med" w="med" type="none"/>
            <a:tailEnd len="med" w="med" type="none"/>
          </a:ln>
        </p:spPr>
      </p:cxnSp>
      <p:sp>
        <p:nvSpPr>
          <p:cNvPr id="239" name="Google Shape;239;p18"/>
          <p:cNvSpPr txBox="1"/>
          <p:nvPr/>
        </p:nvSpPr>
        <p:spPr>
          <a:xfrm>
            <a:off x="7978975" y="1359250"/>
            <a:ext cx="1028100" cy="1773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500">
                <a:solidFill>
                  <a:srgbClr val="FFFFFF"/>
                </a:solidFill>
                <a:latin typeface="Lato"/>
                <a:ea typeface="Lato"/>
                <a:cs typeface="Lato"/>
                <a:sym typeface="Lato"/>
              </a:rPr>
              <a:t>2015  - Windows 10 released</a:t>
            </a:r>
            <a:endParaRPr sz="500">
              <a:solidFill>
                <a:srgbClr val="FFFFFF"/>
              </a:solidFill>
              <a:latin typeface="Lato"/>
              <a:ea typeface="Lato"/>
              <a:cs typeface="Lato"/>
              <a:sym typeface="Lato"/>
            </a:endParaRPr>
          </a:p>
        </p:txBody>
      </p:sp>
      <p:sp>
        <p:nvSpPr>
          <p:cNvPr id="240" name="Google Shape;240;p18"/>
          <p:cNvSpPr txBox="1"/>
          <p:nvPr/>
        </p:nvSpPr>
        <p:spPr>
          <a:xfrm>
            <a:off x="7978975" y="1567600"/>
            <a:ext cx="1028100" cy="1773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500">
                <a:solidFill>
                  <a:srgbClr val="FFFFFF"/>
                </a:solidFill>
                <a:latin typeface="Lato"/>
                <a:ea typeface="Lato"/>
                <a:cs typeface="Lato"/>
                <a:sym typeface="Lato"/>
              </a:rPr>
              <a:t>2015  - Apple Watch launched</a:t>
            </a:r>
            <a:endParaRPr sz="500">
              <a:solidFill>
                <a:srgbClr val="FFFFFF"/>
              </a:solidFill>
              <a:latin typeface="Lato"/>
              <a:ea typeface="Lato"/>
              <a:cs typeface="Lato"/>
              <a:sym typeface="Lato"/>
            </a:endParaRPr>
          </a:p>
        </p:txBody>
      </p:sp>
      <p:cxnSp>
        <p:nvCxnSpPr>
          <p:cNvPr id="241" name="Google Shape;241;p18"/>
          <p:cNvCxnSpPr>
            <a:endCxn id="239" idx="1"/>
          </p:cNvCxnSpPr>
          <p:nvPr/>
        </p:nvCxnSpPr>
        <p:spPr>
          <a:xfrm flipH="1" rot="10800000">
            <a:off x="6283975" y="1447900"/>
            <a:ext cx="1695000" cy="306000"/>
          </a:xfrm>
          <a:prstGeom prst="straightConnector1">
            <a:avLst/>
          </a:prstGeom>
          <a:noFill/>
          <a:ln cap="flat" cmpd="sng" w="9525">
            <a:solidFill>
              <a:srgbClr val="FFFFFF"/>
            </a:solidFill>
            <a:prstDash val="solid"/>
            <a:round/>
            <a:headEnd len="med" w="med" type="none"/>
            <a:tailEnd len="med" w="med" type="none"/>
          </a:ln>
        </p:spPr>
      </p:cxnSp>
      <p:cxnSp>
        <p:nvCxnSpPr>
          <p:cNvPr id="242" name="Google Shape;242;p18"/>
          <p:cNvCxnSpPr>
            <a:endCxn id="240" idx="1"/>
          </p:cNvCxnSpPr>
          <p:nvPr/>
        </p:nvCxnSpPr>
        <p:spPr>
          <a:xfrm flipH="1" rot="10800000">
            <a:off x="6329575" y="1656250"/>
            <a:ext cx="1649400" cy="103200"/>
          </a:xfrm>
          <a:prstGeom prst="straightConnector1">
            <a:avLst/>
          </a:prstGeom>
          <a:noFill/>
          <a:ln cap="flat" cmpd="sng" w="9525">
            <a:solidFill>
              <a:srgbClr val="FFFFFF"/>
            </a:solidFill>
            <a:prstDash val="solid"/>
            <a:round/>
            <a:headEnd len="med" w="med" type="none"/>
            <a:tailEnd len="med" w="med" type="none"/>
          </a:ln>
        </p:spPr>
      </p:cxnSp>
      <p:sp>
        <p:nvSpPr>
          <p:cNvPr id="243" name="Google Shape;243;p18"/>
          <p:cNvSpPr txBox="1"/>
          <p:nvPr/>
        </p:nvSpPr>
        <p:spPr>
          <a:xfrm>
            <a:off x="6611850" y="2199613"/>
            <a:ext cx="1844400" cy="1773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
              </a:lnSpc>
              <a:spcBef>
                <a:spcPts val="0"/>
              </a:spcBef>
              <a:spcAft>
                <a:spcPts val="0"/>
              </a:spcAft>
              <a:buNone/>
            </a:pPr>
            <a:r>
              <a:rPr lang="en" sz="500">
                <a:solidFill>
                  <a:srgbClr val="FFFFFF"/>
                </a:solidFill>
                <a:latin typeface="Lato"/>
                <a:ea typeface="Lato"/>
                <a:cs typeface="Lato"/>
                <a:sym typeface="Lato"/>
              </a:rPr>
              <a:t>2016  - First </a:t>
            </a:r>
            <a:r>
              <a:rPr lang="en" sz="500">
                <a:solidFill>
                  <a:srgbClr val="FFFFFF"/>
                </a:solidFill>
                <a:latin typeface="Lato"/>
                <a:ea typeface="Lato"/>
                <a:cs typeface="Lato"/>
                <a:sym typeface="Lato"/>
              </a:rPr>
              <a:t>reprogrammable</a:t>
            </a:r>
            <a:r>
              <a:rPr lang="en" sz="500">
                <a:solidFill>
                  <a:srgbClr val="FFFFFF"/>
                </a:solidFill>
                <a:latin typeface="Lato"/>
                <a:ea typeface="Lato"/>
                <a:cs typeface="Lato"/>
                <a:sym typeface="Lato"/>
              </a:rPr>
              <a:t> quantum computer is created</a:t>
            </a:r>
            <a:endParaRPr sz="500">
              <a:solidFill>
                <a:srgbClr val="FFFFFF"/>
              </a:solidFill>
              <a:latin typeface="Lato"/>
              <a:ea typeface="Lato"/>
              <a:cs typeface="Lato"/>
              <a:sym typeface="Lato"/>
            </a:endParaRPr>
          </a:p>
        </p:txBody>
      </p:sp>
      <p:cxnSp>
        <p:nvCxnSpPr>
          <p:cNvPr id="244" name="Google Shape;244;p18"/>
          <p:cNvCxnSpPr>
            <a:stCxn id="243" idx="1"/>
          </p:cNvCxnSpPr>
          <p:nvPr/>
        </p:nvCxnSpPr>
        <p:spPr>
          <a:xfrm rot="10800000">
            <a:off x="6557550" y="1753963"/>
            <a:ext cx="54300" cy="534300"/>
          </a:xfrm>
          <a:prstGeom prst="straightConnector1">
            <a:avLst/>
          </a:prstGeom>
          <a:noFill/>
          <a:ln cap="flat" cmpd="sng" w="9525">
            <a:solidFill>
              <a:srgbClr val="FFFFFF"/>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8" name="Shape 248"/>
        <p:cNvGrpSpPr/>
        <p:nvPr/>
      </p:nvGrpSpPr>
      <p:grpSpPr>
        <a:xfrm>
          <a:off x="0" y="0"/>
          <a:ext cx="0" cy="0"/>
          <a:chOff x="0" y="0"/>
          <a:chExt cx="0" cy="0"/>
        </a:xfrm>
      </p:grpSpPr>
      <p:sp>
        <p:nvSpPr>
          <p:cNvPr id="249" name="Google Shape;249;p19"/>
          <p:cNvSpPr txBox="1"/>
          <p:nvPr>
            <p:ph type="title"/>
          </p:nvPr>
        </p:nvSpPr>
        <p:spPr>
          <a:xfrm>
            <a:off x="823850" y="2053000"/>
            <a:ext cx="4587000" cy="11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Parts of the Modern Computer</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3" name="Shape 253"/>
        <p:cNvGrpSpPr/>
        <p:nvPr/>
      </p:nvGrpSpPr>
      <p:grpSpPr>
        <a:xfrm>
          <a:off x="0" y="0"/>
          <a:ext cx="0" cy="0"/>
          <a:chOff x="0" y="0"/>
          <a:chExt cx="0" cy="0"/>
        </a:xfrm>
      </p:grpSpPr>
      <p:sp>
        <p:nvSpPr>
          <p:cNvPr id="254" name="Google Shape;254;p20"/>
          <p:cNvSpPr txBox="1"/>
          <p:nvPr>
            <p:ph type="title"/>
          </p:nvPr>
        </p:nvSpPr>
        <p:spPr>
          <a:xfrm>
            <a:off x="1297500" y="241350"/>
            <a:ext cx="7038900" cy="52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Major Computer Components </a:t>
            </a:r>
            <a:r>
              <a:rPr baseline="30000" lang="en"/>
              <a:t>2</a:t>
            </a:r>
            <a:endParaRPr baseline="30000"/>
          </a:p>
        </p:txBody>
      </p:sp>
      <p:sp>
        <p:nvSpPr>
          <p:cNvPr id="255" name="Google Shape;255;p20"/>
          <p:cNvSpPr txBox="1"/>
          <p:nvPr>
            <p:ph idx="1" type="body"/>
          </p:nvPr>
        </p:nvSpPr>
        <p:spPr>
          <a:xfrm>
            <a:off x="75225" y="769050"/>
            <a:ext cx="8998800" cy="40923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a:t>RAM - Random Access Memory - Temporary Memory, reset when power goes out</a:t>
            </a:r>
            <a:endParaRPr/>
          </a:p>
          <a:p>
            <a:pPr indent="0" lvl="0" marL="0" rtl="0" algn="ctr">
              <a:lnSpc>
                <a:spcPct val="100000"/>
              </a:lnSpc>
              <a:spcBef>
                <a:spcPts val="1600"/>
              </a:spcBef>
              <a:spcAft>
                <a:spcPts val="0"/>
              </a:spcAft>
              <a:buNone/>
            </a:pPr>
            <a:r>
              <a:rPr lang="en"/>
              <a:t>Hard Disk/SSD - Data Drive that retains data after powering down</a:t>
            </a:r>
            <a:endParaRPr/>
          </a:p>
          <a:p>
            <a:pPr indent="0" lvl="0" marL="0" rtl="0" algn="ctr">
              <a:lnSpc>
                <a:spcPct val="100000"/>
              </a:lnSpc>
              <a:spcBef>
                <a:spcPts val="1600"/>
              </a:spcBef>
              <a:spcAft>
                <a:spcPts val="0"/>
              </a:spcAft>
              <a:buNone/>
            </a:pPr>
            <a:r>
              <a:rPr lang="en"/>
              <a:t>CPU - Does general data processing, and graphics processing if no graphics card installed (see below)</a:t>
            </a:r>
            <a:endParaRPr/>
          </a:p>
          <a:p>
            <a:pPr indent="0" lvl="0" marL="0" rtl="0" algn="ctr">
              <a:lnSpc>
                <a:spcPct val="100000"/>
              </a:lnSpc>
              <a:spcBef>
                <a:spcPts val="1600"/>
              </a:spcBef>
              <a:spcAft>
                <a:spcPts val="0"/>
              </a:spcAft>
              <a:buNone/>
            </a:pPr>
            <a:r>
              <a:rPr lang="en"/>
              <a:t>Video Card - GPU Unit - CPU optimized for graphics processing - Faster than the general CPU in graphics processing</a:t>
            </a:r>
            <a:endParaRPr/>
          </a:p>
          <a:p>
            <a:pPr indent="0" lvl="0" marL="0" rtl="0" algn="ctr">
              <a:lnSpc>
                <a:spcPct val="100000"/>
              </a:lnSpc>
              <a:spcBef>
                <a:spcPts val="1600"/>
              </a:spcBef>
              <a:spcAft>
                <a:spcPts val="0"/>
              </a:spcAft>
              <a:buNone/>
            </a:pPr>
            <a:r>
              <a:rPr lang="en"/>
              <a:t>USB 2.0/3.0/3.1 ports - To connect I/O devices (Mouse, Keyboard, Some Headphones, etc.)</a:t>
            </a:r>
            <a:endParaRPr/>
          </a:p>
          <a:p>
            <a:pPr indent="0" lvl="0" marL="0" rtl="0" algn="ctr">
              <a:lnSpc>
                <a:spcPct val="100000"/>
              </a:lnSpc>
              <a:spcBef>
                <a:spcPts val="1600"/>
              </a:spcBef>
              <a:spcAft>
                <a:spcPts val="0"/>
              </a:spcAft>
              <a:buNone/>
            </a:pPr>
            <a:r>
              <a:rPr lang="en"/>
              <a:t>Audio/Mic Jack - For headphones and Microphones. In recent years, all-in-one jacks have become more popular</a:t>
            </a:r>
            <a:endParaRPr/>
          </a:p>
          <a:p>
            <a:pPr indent="0" lvl="0" marL="0" rtl="0" algn="ctr">
              <a:lnSpc>
                <a:spcPct val="100000"/>
              </a:lnSpc>
              <a:spcBef>
                <a:spcPts val="1600"/>
              </a:spcBef>
              <a:spcAft>
                <a:spcPts val="0"/>
              </a:spcAft>
              <a:buNone/>
            </a:pPr>
            <a:r>
              <a:rPr lang="en"/>
              <a:t>Ethernet port - Uses Fiber-Optic Cable (light) to transfer data at high speeds (internet connection)</a:t>
            </a:r>
            <a:endParaRPr/>
          </a:p>
          <a:p>
            <a:pPr indent="0" lvl="0" marL="0" rtl="0" algn="ctr">
              <a:lnSpc>
                <a:spcPct val="100000"/>
              </a:lnSpc>
              <a:spcBef>
                <a:spcPts val="1600"/>
              </a:spcBef>
              <a:spcAft>
                <a:spcPts val="0"/>
              </a:spcAft>
              <a:buNone/>
            </a:pPr>
            <a:r>
              <a:rPr lang="en"/>
              <a:t>Wifi/Bluetooth Chip - Allows connection to Wifi/Bluetooth</a:t>
            </a:r>
            <a:endParaRPr/>
          </a:p>
          <a:p>
            <a:pPr indent="0" lvl="0" marL="0" rtl="0" algn="ctr">
              <a:lnSpc>
                <a:spcPct val="100000"/>
              </a:lnSpc>
              <a:spcBef>
                <a:spcPts val="1600"/>
              </a:spcBef>
              <a:spcAft>
                <a:spcPts val="0"/>
              </a:spcAft>
              <a:buNone/>
            </a:pPr>
            <a:r>
              <a:rPr lang="en"/>
              <a:t>HDMI/VGA Port - Output to monitor (HDMI also supports audio)</a:t>
            </a:r>
            <a:endParaRPr/>
          </a:p>
          <a:p>
            <a:pPr indent="0" lvl="0" marL="0" rtl="0" algn="ctr">
              <a:lnSpc>
                <a:spcPct val="100000"/>
              </a:lnSpc>
              <a:spcBef>
                <a:spcPts val="1600"/>
              </a:spcBef>
              <a:spcAft>
                <a:spcPts val="0"/>
              </a:spcAft>
              <a:buNone/>
            </a:pPr>
            <a:r>
              <a:rPr lang="en"/>
              <a:t>Power Source - DC Battery or AC Wall Plug</a:t>
            </a:r>
            <a:endParaRPr/>
          </a:p>
          <a:p>
            <a:pPr indent="0" lvl="0" marL="0" rtl="0" algn="ctr">
              <a:lnSpc>
                <a:spcPct val="100000"/>
              </a:lnSpc>
              <a:spcBef>
                <a:spcPts val="1600"/>
              </a:spcBef>
              <a:spcAft>
                <a:spcPts val="0"/>
              </a:spcAft>
              <a:buNone/>
            </a:pPr>
            <a:r>
              <a:rPr lang="en"/>
              <a:t>Cooling system - Heatsink, Fan, or Liquid Cooling System</a:t>
            </a:r>
            <a:endParaRPr/>
          </a:p>
          <a:p>
            <a:pPr indent="0" lvl="0" marL="0" rtl="0" algn="ctr">
              <a:lnSpc>
                <a:spcPct val="100000"/>
              </a:lnSpc>
              <a:spcBef>
                <a:spcPts val="1600"/>
              </a:spcBef>
              <a:spcAft>
                <a:spcPts val="16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9" name="Shape 259"/>
        <p:cNvGrpSpPr/>
        <p:nvPr/>
      </p:nvGrpSpPr>
      <p:grpSpPr>
        <a:xfrm>
          <a:off x="0" y="0"/>
          <a:ext cx="0" cy="0"/>
          <a:chOff x="0" y="0"/>
          <a:chExt cx="0" cy="0"/>
        </a:xfrm>
      </p:grpSpPr>
      <p:sp>
        <p:nvSpPr>
          <p:cNvPr id="260" name="Google Shape;260;p21"/>
          <p:cNvSpPr txBox="1"/>
          <p:nvPr/>
        </p:nvSpPr>
        <p:spPr>
          <a:xfrm>
            <a:off x="412275" y="451525"/>
            <a:ext cx="2689500" cy="406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latin typeface="Lato"/>
                <a:ea typeface="Lato"/>
                <a:cs typeface="Lato"/>
                <a:sym typeface="Lato"/>
              </a:rPr>
              <a:t>Home PC</a:t>
            </a:r>
            <a:endParaRPr>
              <a:solidFill>
                <a:srgbClr val="FFFFFF"/>
              </a:solidFill>
              <a:latin typeface="Lato"/>
              <a:ea typeface="Lato"/>
              <a:cs typeface="Lato"/>
              <a:sym typeface="Lato"/>
            </a:endParaRPr>
          </a:p>
          <a:p>
            <a:pPr indent="0" lvl="0" marL="0" rtl="0" algn="l">
              <a:spcBef>
                <a:spcPts val="0"/>
              </a:spcBef>
              <a:spcAft>
                <a:spcPts val="0"/>
              </a:spcAft>
              <a:buNone/>
            </a:pPr>
            <a:r>
              <a:t/>
            </a:r>
            <a:endParaRPr>
              <a:solidFill>
                <a:srgbClr val="FFFFFF"/>
              </a:solidFill>
              <a:latin typeface="Lato"/>
              <a:ea typeface="Lato"/>
              <a:cs typeface="Lato"/>
              <a:sym typeface="Lato"/>
            </a:endParaRPr>
          </a:p>
          <a:p>
            <a:pPr indent="0" lvl="0" marL="0" rtl="0" algn="l">
              <a:spcBef>
                <a:spcPts val="0"/>
              </a:spcBef>
              <a:spcAft>
                <a:spcPts val="0"/>
              </a:spcAft>
              <a:buNone/>
            </a:pPr>
            <a:r>
              <a:rPr lang="en">
                <a:solidFill>
                  <a:srgbClr val="FFFFFF"/>
                </a:solidFill>
                <a:latin typeface="Lato"/>
                <a:ea typeface="Lato"/>
                <a:cs typeface="Lato"/>
                <a:sym typeface="Lato"/>
              </a:rPr>
              <a:t>Pros:</a:t>
            </a:r>
            <a:endParaRPr>
              <a:solidFill>
                <a:srgbClr val="FFFFFF"/>
              </a:solidFill>
              <a:latin typeface="Lato"/>
              <a:ea typeface="Lato"/>
              <a:cs typeface="Lato"/>
              <a:sym typeface="Lato"/>
            </a:endParaRPr>
          </a:p>
          <a:p>
            <a:pPr indent="0" lvl="0" marL="0" rtl="0" algn="l">
              <a:spcBef>
                <a:spcPts val="0"/>
              </a:spcBef>
              <a:spcAft>
                <a:spcPts val="0"/>
              </a:spcAft>
              <a:buNone/>
            </a:pPr>
            <a:r>
              <a:rPr lang="en">
                <a:solidFill>
                  <a:srgbClr val="FFFFFF"/>
                </a:solidFill>
                <a:latin typeface="Lato"/>
                <a:ea typeface="Lato"/>
                <a:cs typeface="Lato"/>
                <a:sym typeface="Lato"/>
              </a:rPr>
              <a:t>Has moderate computing power, good for most cases</a:t>
            </a:r>
            <a:endParaRPr>
              <a:solidFill>
                <a:srgbClr val="FFFFFF"/>
              </a:solidFill>
              <a:latin typeface="Lato"/>
              <a:ea typeface="Lato"/>
              <a:cs typeface="Lato"/>
              <a:sym typeface="Lato"/>
            </a:endParaRPr>
          </a:p>
          <a:p>
            <a:pPr indent="0" lvl="0" marL="0" rtl="0" algn="l">
              <a:spcBef>
                <a:spcPts val="0"/>
              </a:spcBef>
              <a:spcAft>
                <a:spcPts val="0"/>
              </a:spcAft>
              <a:buNone/>
            </a:pPr>
            <a:r>
              <a:t/>
            </a:r>
            <a:endParaRPr>
              <a:solidFill>
                <a:srgbClr val="FFFFFF"/>
              </a:solidFill>
              <a:latin typeface="Lato"/>
              <a:ea typeface="Lato"/>
              <a:cs typeface="Lato"/>
              <a:sym typeface="Lato"/>
            </a:endParaRPr>
          </a:p>
          <a:p>
            <a:pPr indent="0" lvl="0" marL="0" rtl="0" algn="l">
              <a:spcBef>
                <a:spcPts val="0"/>
              </a:spcBef>
              <a:spcAft>
                <a:spcPts val="0"/>
              </a:spcAft>
              <a:buNone/>
            </a:pPr>
            <a:r>
              <a:rPr lang="en">
                <a:solidFill>
                  <a:srgbClr val="FFFFFF"/>
                </a:solidFill>
                <a:latin typeface="Lato"/>
                <a:ea typeface="Lato"/>
                <a:cs typeface="Lato"/>
                <a:sym typeface="Lato"/>
              </a:rPr>
              <a:t>Cons:</a:t>
            </a:r>
            <a:endParaRPr>
              <a:solidFill>
                <a:srgbClr val="FFFFFF"/>
              </a:solidFill>
              <a:latin typeface="Lato"/>
              <a:ea typeface="Lato"/>
              <a:cs typeface="Lato"/>
              <a:sym typeface="Lato"/>
            </a:endParaRPr>
          </a:p>
          <a:p>
            <a:pPr indent="0" lvl="0" marL="0" rtl="0" algn="l">
              <a:spcBef>
                <a:spcPts val="0"/>
              </a:spcBef>
              <a:spcAft>
                <a:spcPts val="0"/>
              </a:spcAft>
              <a:buNone/>
            </a:pPr>
            <a:r>
              <a:rPr lang="en">
                <a:solidFill>
                  <a:srgbClr val="FFFFFF"/>
                </a:solidFill>
                <a:latin typeface="Lato"/>
                <a:ea typeface="Lato"/>
                <a:cs typeface="Lato"/>
                <a:sym typeface="Lato"/>
              </a:rPr>
              <a:t>Not very portable</a:t>
            </a:r>
            <a:endParaRPr>
              <a:solidFill>
                <a:srgbClr val="FFFFFF"/>
              </a:solidFill>
              <a:latin typeface="Lato"/>
              <a:ea typeface="Lato"/>
              <a:cs typeface="Lato"/>
              <a:sym typeface="Lato"/>
            </a:endParaRPr>
          </a:p>
        </p:txBody>
      </p:sp>
      <p:sp>
        <p:nvSpPr>
          <p:cNvPr id="261" name="Google Shape;261;p21"/>
          <p:cNvSpPr txBox="1"/>
          <p:nvPr/>
        </p:nvSpPr>
        <p:spPr>
          <a:xfrm>
            <a:off x="3494450" y="549675"/>
            <a:ext cx="2846700" cy="390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latin typeface="Lato"/>
                <a:ea typeface="Lato"/>
                <a:cs typeface="Lato"/>
                <a:sym typeface="Lato"/>
              </a:rPr>
              <a:t>Smartphone</a:t>
            </a:r>
            <a:endParaRPr>
              <a:solidFill>
                <a:srgbClr val="FFFFFF"/>
              </a:solidFill>
              <a:latin typeface="Lato"/>
              <a:ea typeface="Lato"/>
              <a:cs typeface="Lato"/>
              <a:sym typeface="Lato"/>
            </a:endParaRPr>
          </a:p>
          <a:p>
            <a:pPr indent="0" lvl="0" marL="0" rtl="0" algn="l">
              <a:spcBef>
                <a:spcPts val="0"/>
              </a:spcBef>
              <a:spcAft>
                <a:spcPts val="0"/>
              </a:spcAft>
              <a:buNone/>
            </a:pPr>
            <a:r>
              <a:t/>
            </a:r>
            <a:endParaRPr>
              <a:solidFill>
                <a:srgbClr val="FFFFFF"/>
              </a:solidFill>
              <a:latin typeface="Lato"/>
              <a:ea typeface="Lato"/>
              <a:cs typeface="Lato"/>
              <a:sym typeface="Lato"/>
            </a:endParaRPr>
          </a:p>
          <a:p>
            <a:pPr indent="0" lvl="0" marL="0" rtl="0" algn="l">
              <a:spcBef>
                <a:spcPts val="0"/>
              </a:spcBef>
              <a:spcAft>
                <a:spcPts val="0"/>
              </a:spcAft>
              <a:buNone/>
            </a:pPr>
            <a:r>
              <a:rPr lang="en">
                <a:solidFill>
                  <a:srgbClr val="FFFFFF"/>
                </a:solidFill>
                <a:latin typeface="Lato"/>
                <a:ea typeface="Lato"/>
                <a:cs typeface="Lato"/>
                <a:sym typeface="Lato"/>
              </a:rPr>
              <a:t>Pros:</a:t>
            </a:r>
            <a:endParaRPr>
              <a:solidFill>
                <a:srgbClr val="FFFFFF"/>
              </a:solidFill>
              <a:latin typeface="Lato"/>
              <a:ea typeface="Lato"/>
              <a:cs typeface="Lato"/>
              <a:sym typeface="Lato"/>
            </a:endParaRPr>
          </a:p>
          <a:p>
            <a:pPr indent="0" lvl="0" marL="0" rtl="0" algn="l">
              <a:spcBef>
                <a:spcPts val="0"/>
              </a:spcBef>
              <a:spcAft>
                <a:spcPts val="0"/>
              </a:spcAft>
              <a:buNone/>
            </a:pPr>
            <a:r>
              <a:rPr lang="en">
                <a:solidFill>
                  <a:srgbClr val="FFFFFF"/>
                </a:solidFill>
                <a:latin typeface="Lato"/>
                <a:ea typeface="Lato"/>
                <a:cs typeface="Lato"/>
                <a:sym typeface="Lato"/>
              </a:rPr>
              <a:t>Portable, easy to use, small</a:t>
            </a:r>
            <a:endParaRPr>
              <a:solidFill>
                <a:srgbClr val="FFFFFF"/>
              </a:solidFill>
              <a:latin typeface="Lato"/>
              <a:ea typeface="Lato"/>
              <a:cs typeface="Lato"/>
              <a:sym typeface="Lato"/>
            </a:endParaRPr>
          </a:p>
          <a:p>
            <a:pPr indent="0" lvl="0" marL="0" rtl="0" algn="l">
              <a:spcBef>
                <a:spcPts val="0"/>
              </a:spcBef>
              <a:spcAft>
                <a:spcPts val="0"/>
              </a:spcAft>
              <a:buNone/>
            </a:pPr>
            <a:r>
              <a:t/>
            </a:r>
            <a:endParaRPr>
              <a:solidFill>
                <a:srgbClr val="FFFFFF"/>
              </a:solidFill>
              <a:latin typeface="Lato"/>
              <a:ea typeface="Lato"/>
              <a:cs typeface="Lato"/>
              <a:sym typeface="Lato"/>
            </a:endParaRPr>
          </a:p>
          <a:p>
            <a:pPr indent="0" lvl="0" marL="0" rtl="0" algn="l">
              <a:spcBef>
                <a:spcPts val="0"/>
              </a:spcBef>
              <a:spcAft>
                <a:spcPts val="0"/>
              </a:spcAft>
              <a:buNone/>
            </a:pPr>
            <a:r>
              <a:rPr lang="en">
                <a:solidFill>
                  <a:srgbClr val="FFFFFF"/>
                </a:solidFill>
                <a:latin typeface="Lato"/>
                <a:ea typeface="Lato"/>
                <a:cs typeface="Lato"/>
                <a:sym typeface="Lato"/>
              </a:rPr>
              <a:t>Cons:</a:t>
            </a:r>
            <a:endParaRPr>
              <a:solidFill>
                <a:srgbClr val="FFFFFF"/>
              </a:solidFill>
              <a:latin typeface="Lato"/>
              <a:ea typeface="Lato"/>
              <a:cs typeface="Lato"/>
              <a:sym typeface="Lato"/>
            </a:endParaRPr>
          </a:p>
          <a:p>
            <a:pPr indent="0" lvl="0" marL="0" rtl="0" algn="l">
              <a:spcBef>
                <a:spcPts val="0"/>
              </a:spcBef>
              <a:spcAft>
                <a:spcPts val="0"/>
              </a:spcAft>
              <a:buNone/>
            </a:pPr>
            <a:r>
              <a:rPr lang="en">
                <a:solidFill>
                  <a:srgbClr val="FFFFFF"/>
                </a:solidFill>
                <a:latin typeface="Lato"/>
                <a:ea typeface="Lato"/>
                <a:cs typeface="Lato"/>
                <a:sym typeface="Lato"/>
              </a:rPr>
              <a:t>Less computing power</a:t>
            </a:r>
            <a:endParaRPr>
              <a:solidFill>
                <a:srgbClr val="FFFFFF"/>
              </a:solidFill>
              <a:latin typeface="Lato"/>
              <a:ea typeface="Lato"/>
              <a:cs typeface="Lato"/>
              <a:sym typeface="Lato"/>
            </a:endParaRPr>
          </a:p>
          <a:p>
            <a:pPr indent="0" lvl="0" marL="0" rtl="0" algn="l">
              <a:spcBef>
                <a:spcPts val="0"/>
              </a:spcBef>
              <a:spcAft>
                <a:spcPts val="0"/>
              </a:spcAft>
              <a:buNone/>
            </a:pPr>
            <a:r>
              <a:rPr lang="en">
                <a:solidFill>
                  <a:srgbClr val="FFFFFF"/>
                </a:solidFill>
                <a:latin typeface="Lato"/>
                <a:ea typeface="Lato"/>
                <a:cs typeface="Lato"/>
                <a:sym typeface="Lato"/>
              </a:rPr>
              <a:t>Bad cooling system</a:t>
            </a:r>
            <a:endParaRPr>
              <a:solidFill>
                <a:srgbClr val="FFFFFF"/>
              </a:solidFill>
              <a:latin typeface="Lato"/>
              <a:ea typeface="Lato"/>
              <a:cs typeface="Lato"/>
              <a:sym typeface="Lato"/>
            </a:endParaRPr>
          </a:p>
        </p:txBody>
      </p:sp>
      <p:sp>
        <p:nvSpPr>
          <p:cNvPr id="262" name="Google Shape;262;p21"/>
          <p:cNvSpPr txBox="1"/>
          <p:nvPr/>
        </p:nvSpPr>
        <p:spPr>
          <a:xfrm>
            <a:off x="6655150" y="608575"/>
            <a:ext cx="2139900" cy="390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latin typeface="Lato"/>
                <a:ea typeface="Lato"/>
                <a:cs typeface="Lato"/>
                <a:sym typeface="Lato"/>
              </a:rPr>
              <a:t>Laptop</a:t>
            </a:r>
            <a:endParaRPr>
              <a:solidFill>
                <a:srgbClr val="FFFFFF"/>
              </a:solidFill>
              <a:latin typeface="Lato"/>
              <a:ea typeface="Lato"/>
              <a:cs typeface="Lato"/>
              <a:sym typeface="Lato"/>
            </a:endParaRPr>
          </a:p>
          <a:p>
            <a:pPr indent="0" lvl="0" marL="0" rtl="0" algn="l">
              <a:spcBef>
                <a:spcPts val="0"/>
              </a:spcBef>
              <a:spcAft>
                <a:spcPts val="0"/>
              </a:spcAft>
              <a:buNone/>
            </a:pPr>
            <a:r>
              <a:t/>
            </a:r>
            <a:endParaRPr>
              <a:solidFill>
                <a:srgbClr val="FFFFFF"/>
              </a:solidFill>
              <a:latin typeface="Lato"/>
              <a:ea typeface="Lato"/>
              <a:cs typeface="Lato"/>
              <a:sym typeface="Lato"/>
            </a:endParaRPr>
          </a:p>
          <a:p>
            <a:pPr indent="0" lvl="0" marL="0" rtl="0" algn="l">
              <a:spcBef>
                <a:spcPts val="0"/>
              </a:spcBef>
              <a:spcAft>
                <a:spcPts val="0"/>
              </a:spcAft>
              <a:buNone/>
            </a:pPr>
            <a:r>
              <a:rPr lang="en">
                <a:solidFill>
                  <a:srgbClr val="FFFFFF"/>
                </a:solidFill>
                <a:latin typeface="Lato"/>
                <a:ea typeface="Lato"/>
                <a:cs typeface="Lato"/>
                <a:sym typeface="Lato"/>
              </a:rPr>
              <a:t>Pros:</a:t>
            </a:r>
            <a:endParaRPr>
              <a:solidFill>
                <a:srgbClr val="FFFFFF"/>
              </a:solidFill>
              <a:latin typeface="Lato"/>
              <a:ea typeface="Lato"/>
              <a:cs typeface="Lato"/>
              <a:sym typeface="Lato"/>
            </a:endParaRPr>
          </a:p>
          <a:p>
            <a:pPr indent="0" lvl="0" marL="0" rtl="0" algn="l">
              <a:spcBef>
                <a:spcPts val="0"/>
              </a:spcBef>
              <a:spcAft>
                <a:spcPts val="0"/>
              </a:spcAft>
              <a:buNone/>
            </a:pPr>
            <a:r>
              <a:rPr lang="en">
                <a:solidFill>
                  <a:srgbClr val="FFFFFF"/>
                </a:solidFill>
                <a:latin typeface="Lato"/>
                <a:ea typeface="Lato"/>
                <a:cs typeface="Lato"/>
                <a:sym typeface="Lato"/>
              </a:rPr>
              <a:t>Almost as powerful as a home PC, has adequate cooling system, portable</a:t>
            </a:r>
            <a:endParaRPr>
              <a:solidFill>
                <a:srgbClr val="FFFFFF"/>
              </a:solidFill>
              <a:latin typeface="Lato"/>
              <a:ea typeface="Lato"/>
              <a:cs typeface="Lato"/>
              <a:sym typeface="Lato"/>
            </a:endParaRPr>
          </a:p>
          <a:p>
            <a:pPr indent="0" lvl="0" marL="0" rtl="0" algn="l">
              <a:spcBef>
                <a:spcPts val="0"/>
              </a:spcBef>
              <a:spcAft>
                <a:spcPts val="0"/>
              </a:spcAft>
              <a:buNone/>
            </a:pPr>
            <a:r>
              <a:t/>
            </a:r>
            <a:endParaRPr>
              <a:solidFill>
                <a:srgbClr val="FFFFFF"/>
              </a:solidFill>
              <a:latin typeface="Lato"/>
              <a:ea typeface="Lato"/>
              <a:cs typeface="Lato"/>
              <a:sym typeface="Lato"/>
            </a:endParaRPr>
          </a:p>
          <a:p>
            <a:pPr indent="0" lvl="0" marL="0" rtl="0" algn="l">
              <a:spcBef>
                <a:spcPts val="0"/>
              </a:spcBef>
              <a:spcAft>
                <a:spcPts val="0"/>
              </a:spcAft>
              <a:buNone/>
            </a:pPr>
            <a:r>
              <a:rPr lang="en">
                <a:solidFill>
                  <a:srgbClr val="FFFFFF"/>
                </a:solidFill>
                <a:latin typeface="Lato"/>
                <a:ea typeface="Lato"/>
                <a:cs typeface="Lato"/>
                <a:sym typeface="Lato"/>
              </a:rPr>
              <a:t>Cons:</a:t>
            </a:r>
            <a:endParaRPr>
              <a:solidFill>
                <a:srgbClr val="FFFFFF"/>
              </a:solidFill>
              <a:latin typeface="Lato"/>
              <a:ea typeface="Lato"/>
              <a:cs typeface="Lato"/>
              <a:sym typeface="Lato"/>
            </a:endParaRPr>
          </a:p>
          <a:p>
            <a:pPr indent="0" lvl="0" marL="0" rtl="0" algn="l">
              <a:spcBef>
                <a:spcPts val="0"/>
              </a:spcBef>
              <a:spcAft>
                <a:spcPts val="0"/>
              </a:spcAft>
              <a:buNone/>
            </a:pPr>
            <a:r>
              <a:rPr lang="en">
                <a:solidFill>
                  <a:srgbClr val="FFFFFF"/>
                </a:solidFill>
                <a:latin typeface="Lato"/>
                <a:ea typeface="Lato"/>
                <a:cs typeface="Lato"/>
                <a:sym typeface="Lato"/>
              </a:rPr>
              <a:t>Not as small as smartphone, battery doesn’t last too long</a:t>
            </a:r>
            <a:endParaRPr>
              <a:solidFill>
                <a:srgbClr val="FFFFFF"/>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66" name="Shape 266"/>
        <p:cNvGrpSpPr/>
        <p:nvPr/>
      </p:nvGrpSpPr>
      <p:grpSpPr>
        <a:xfrm>
          <a:off x="0" y="0"/>
          <a:ext cx="0" cy="0"/>
          <a:chOff x="0" y="0"/>
          <a:chExt cx="0" cy="0"/>
        </a:xfrm>
      </p:grpSpPr>
      <p:sp>
        <p:nvSpPr>
          <p:cNvPr id="267" name="Google Shape;267;p22"/>
          <p:cNvSpPr txBox="1"/>
          <p:nvPr>
            <p:ph type="title"/>
          </p:nvPr>
        </p:nvSpPr>
        <p:spPr>
          <a:xfrm>
            <a:off x="1297500" y="393750"/>
            <a:ext cx="7038900" cy="914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Standard Home PC Parts </a:t>
            </a:r>
            <a:r>
              <a:rPr baseline="30000" lang="en"/>
              <a:t>3</a:t>
            </a:r>
            <a:endParaRPr baseline="30000"/>
          </a:p>
        </p:txBody>
      </p:sp>
      <p:sp>
        <p:nvSpPr>
          <p:cNvPr id="268" name="Google Shape;268;p22"/>
          <p:cNvSpPr txBox="1"/>
          <p:nvPr>
            <p:ph idx="1" type="body"/>
          </p:nvPr>
        </p:nvSpPr>
        <p:spPr>
          <a:xfrm>
            <a:off x="1297500" y="1567550"/>
            <a:ext cx="7038900" cy="2911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Dual Core 2.4 GHz+ - i5 or i7 processor or </a:t>
            </a:r>
            <a:r>
              <a:rPr lang="en"/>
              <a:t>equivalent</a:t>
            </a:r>
            <a:r>
              <a:rPr lang="en"/>
              <a:t> AMD</a:t>
            </a:r>
            <a:endParaRPr/>
          </a:p>
          <a:p>
            <a:pPr indent="0" lvl="0" marL="0" rtl="0" algn="ctr">
              <a:spcBef>
                <a:spcPts val="1600"/>
              </a:spcBef>
              <a:spcAft>
                <a:spcPts val="0"/>
              </a:spcAft>
              <a:buNone/>
            </a:pPr>
            <a:r>
              <a:rPr lang="en"/>
              <a:t>16GB RAM</a:t>
            </a:r>
            <a:endParaRPr/>
          </a:p>
          <a:p>
            <a:pPr indent="0" lvl="0" marL="0" rtl="0" algn="ctr">
              <a:spcBef>
                <a:spcPts val="1600"/>
              </a:spcBef>
              <a:spcAft>
                <a:spcPts val="0"/>
              </a:spcAft>
              <a:buNone/>
            </a:pPr>
            <a:r>
              <a:rPr lang="en"/>
              <a:t>256GB+ SSD</a:t>
            </a:r>
            <a:endParaRPr/>
          </a:p>
          <a:p>
            <a:pPr indent="0" lvl="0" marL="0" rtl="0" algn="ctr">
              <a:spcBef>
                <a:spcPts val="1600"/>
              </a:spcBef>
              <a:spcAft>
                <a:spcPts val="0"/>
              </a:spcAft>
              <a:buNone/>
            </a:pPr>
            <a:r>
              <a:rPr lang="en"/>
              <a:t>Graphics Card with HDMI support</a:t>
            </a:r>
            <a:endParaRPr/>
          </a:p>
          <a:p>
            <a:pPr indent="0" lvl="0" marL="0" rtl="0" algn="ctr">
              <a:spcBef>
                <a:spcPts val="1600"/>
              </a:spcBef>
              <a:spcAft>
                <a:spcPts val="0"/>
              </a:spcAft>
              <a:buNone/>
            </a:pPr>
            <a:r>
              <a:rPr lang="en"/>
              <a:t>Wireless 802.11ac (WPA2)</a:t>
            </a:r>
            <a:endParaRPr/>
          </a:p>
          <a:p>
            <a:pPr indent="0" lvl="0" marL="0" rtl="0" algn="ctr">
              <a:spcBef>
                <a:spcPts val="1600"/>
              </a:spcBef>
              <a:spcAft>
                <a:spcPts val="0"/>
              </a:spcAft>
              <a:buNone/>
            </a:pPr>
            <a:r>
              <a:rPr lang="en"/>
              <a:t>23” HDMI monitor</a:t>
            </a:r>
            <a:endParaRPr/>
          </a:p>
          <a:p>
            <a:pPr indent="0" lvl="0" marL="0" rtl="0" algn="ctr">
              <a:spcBef>
                <a:spcPts val="1600"/>
              </a:spcBef>
              <a:spcAft>
                <a:spcPts val="0"/>
              </a:spcAft>
              <a:buNone/>
            </a:pPr>
            <a:r>
              <a:rPr lang="en"/>
              <a:t>Windows 10 Home/Pro or OS X 10.14+</a:t>
            </a:r>
            <a:endParaRPr/>
          </a:p>
          <a:p>
            <a:pPr indent="0" lvl="0" marL="0" rtl="0" algn="ctr">
              <a:spcBef>
                <a:spcPts val="1600"/>
              </a:spcBef>
              <a:spcAft>
                <a:spcPts val="0"/>
              </a:spcAft>
              <a:buNone/>
            </a:pPr>
            <a:r>
              <a:rPr lang="en"/>
              <a:t>Warranty - 3 years for desktop, 4 years for laptop</a:t>
            </a:r>
            <a:endParaRPr/>
          </a:p>
          <a:p>
            <a:pPr indent="0" lvl="0" marL="0" rtl="0" algn="ctr">
              <a:spcBef>
                <a:spcPts val="1600"/>
              </a:spcBef>
              <a:spcAft>
                <a:spcPts val="1600"/>
              </a:spcAft>
              <a:buNone/>
            </a:pPr>
            <a:r>
              <a:rPr lang="en"/>
              <a:t>Backup Storage Device (USB/External Hard Drive)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72" name="Shape 272"/>
        <p:cNvGrpSpPr/>
        <p:nvPr/>
      </p:nvGrpSpPr>
      <p:grpSpPr>
        <a:xfrm>
          <a:off x="0" y="0"/>
          <a:ext cx="0" cy="0"/>
          <a:chOff x="0" y="0"/>
          <a:chExt cx="0" cy="0"/>
        </a:xfrm>
      </p:grpSpPr>
      <p:sp>
        <p:nvSpPr>
          <p:cNvPr id="273" name="Google Shape;273;p23"/>
          <p:cNvSpPr txBox="1"/>
          <p:nvPr>
            <p:ph type="title"/>
          </p:nvPr>
        </p:nvSpPr>
        <p:spPr>
          <a:xfrm>
            <a:off x="823850" y="866775"/>
            <a:ext cx="4587000" cy="3521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 gaming pc is a desktop computer built for playing video games. The following section describes an average gaming pc, but a true gaming pc only has the parts required to make it work.</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77" name="Shape 277"/>
        <p:cNvGrpSpPr/>
        <p:nvPr/>
      </p:nvGrpSpPr>
      <p:grpSpPr>
        <a:xfrm>
          <a:off x="0" y="0"/>
          <a:ext cx="0" cy="0"/>
          <a:chOff x="0" y="0"/>
          <a:chExt cx="0" cy="0"/>
        </a:xfrm>
      </p:grpSpPr>
      <p:sp>
        <p:nvSpPr>
          <p:cNvPr id="278" name="Google Shape;278;p24"/>
          <p:cNvSpPr txBox="1"/>
          <p:nvPr>
            <p:ph type="title"/>
          </p:nvPr>
        </p:nvSpPr>
        <p:spPr>
          <a:xfrm>
            <a:off x="1297500" y="393750"/>
            <a:ext cx="7038900" cy="914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Gaming PC Parts </a:t>
            </a:r>
            <a:r>
              <a:rPr baseline="30000" lang="en"/>
              <a:t>4</a:t>
            </a:r>
            <a:endParaRPr baseline="30000"/>
          </a:p>
        </p:txBody>
      </p:sp>
      <p:sp>
        <p:nvSpPr>
          <p:cNvPr id="279" name="Google Shape;279;p24"/>
          <p:cNvSpPr txBox="1"/>
          <p:nvPr>
            <p:ph idx="1" type="body"/>
          </p:nvPr>
        </p:nvSpPr>
        <p:spPr>
          <a:xfrm>
            <a:off x="1297500" y="1567550"/>
            <a:ext cx="7038900" cy="2911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Z170 Motherboard and 6-core i7 processor (8-core to 18-core i9’s are </a:t>
            </a:r>
            <a:r>
              <a:rPr lang="en"/>
              <a:t>available</a:t>
            </a:r>
            <a:r>
              <a:rPr lang="en"/>
              <a:t>, just costs a lot)</a:t>
            </a:r>
            <a:endParaRPr/>
          </a:p>
          <a:p>
            <a:pPr indent="0" lvl="0" marL="0" rtl="0" algn="ctr">
              <a:spcBef>
                <a:spcPts val="1600"/>
              </a:spcBef>
              <a:spcAft>
                <a:spcPts val="0"/>
              </a:spcAft>
              <a:buNone/>
            </a:pPr>
            <a:r>
              <a:rPr lang="en"/>
              <a:t>ONE GTX 1080 (GPU) with 4GB+ onboard memory</a:t>
            </a:r>
            <a:endParaRPr/>
          </a:p>
          <a:p>
            <a:pPr indent="0" lvl="0" marL="0" rtl="0" algn="ctr">
              <a:spcBef>
                <a:spcPts val="1600"/>
              </a:spcBef>
              <a:spcAft>
                <a:spcPts val="0"/>
              </a:spcAft>
              <a:buNone/>
            </a:pPr>
            <a:r>
              <a:rPr lang="en"/>
              <a:t>16GB RAM (Or more if really needed)</a:t>
            </a:r>
            <a:endParaRPr/>
          </a:p>
          <a:p>
            <a:pPr indent="0" lvl="0" marL="0" rtl="0" algn="ctr">
              <a:spcBef>
                <a:spcPts val="1600"/>
              </a:spcBef>
              <a:spcAft>
                <a:spcPts val="0"/>
              </a:spcAft>
              <a:buNone/>
            </a:pPr>
            <a:r>
              <a:rPr lang="en"/>
              <a:t>200GB+ SSD (Stick Shaped, Add more if </a:t>
            </a:r>
            <a:r>
              <a:rPr lang="en"/>
              <a:t>necessary</a:t>
            </a:r>
            <a:r>
              <a:rPr lang="en"/>
              <a:t>)</a:t>
            </a:r>
            <a:endParaRPr/>
          </a:p>
          <a:p>
            <a:pPr indent="0" lvl="0" marL="0" rtl="0" algn="ctr">
              <a:spcBef>
                <a:spcPts val="1600"/>
              </a:spcBef>
              <a:spcAft>
                <a:spcPts val="0"/>
              </a:spcAft>
              <a:buNone/>
            </a:pPr>
            <a:r>
              <a:rPr lang="en"/>
              <a:t>Windows 10 Pro or Ubuntu 19.10 (On SSD) For windows, you may want to reinstall the OS to remove bloatware (Reduces performance)</a:t>
            </a:r>
            <a:endParaRPr/>
          </a:p>
          <a:p>
            <a:pPr indent="0" lvl="0" marL="0" rtl="0" algn="ctr">
              <a:spcBef>
                <a:spcPts val="1600"/>
              </a:spcBef>
              <a:spcAft>
                <a:spcPts val="0"/>
              </a:spcAft>
              <a:buNone/>
            </a:pPr>
            <a:r>
              <a:rPr lang="en"/>
              <a:t>Quality Cooling System - NO heatsinks, at least use a dual fan setup, and if you really want good performance then get a liquid cooling system.</a:t>
            </a:r>
            <a:endParaRPr/>
          </a:p>
          <a:p>
            <a:pPr indent="0" lvl="0" marL="0" rtl="0" algn="ctr">
              <a:spcBef>
                <a:spcPts val="1600"/>
              </a:spcBef>
              <a:spcAft>
                <a:spcPts val="1600"/>
              </a:spcAft>
              <a:buNone/>
            </a:pPr>
            <a:r>
              <a:rPr lang="en"/>
              <a:t>No </a:t>
            </a:r>
            <a:r>
              <a:rPr lang="en"/>
              <a:t>unnecessary</a:t>
            </a:r>
            <a:r>
              <a:rPr lang="en"/>
              <a:t> parts - If it won’t directly improve game performance and the part is not listed above, it is probably not needed.</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3" name="Shape 283"/>
        <p:cNvGrpSpPr/>
        <p:nvPr/>
      </p:nvGrpSpPr>
      <p:grpSpPr>
        <a:xfrm>
          <a:off x="0" y="0"/>
          <a:ext cx="0" cy="0"/>
          <a:chOff x="0" y="0"/>
          <a:chExt cx="0" cy="0"/>
        </a:xfrm>
      </p:grpSpPr>
      <p:sp>
        <p:nvSpPr>
          <p:cNvPr id="284" name="Google Shape;284;p25"/>
          <p:cNvSpPr txBox="1"/>
          <p:nvPr>
            <p:ph type="title"/>
          </p:nvPr>
        </p:nvSpPr>
        <p:spPr>
          <a:xfrm>
            <a:off x="823850" y="2053000"/>
            <a:ext cx="4587000" cy="11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Moore’s Law</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8" name="Shape 288"/>
        <p:cNvGrpSpPr/>
        <p:nvPr/>
      </p:nvGrpSpPr>
      <p:grpSpPr>
        <a:xfrm>
          <a:off x="0" y="0"/>
          <a:ext cx="0" cy="0"/>
          <a:chOff x="0" y="0"/>
          <a:chExt cx="0" cy="0"/>
        </a:xfrm>
      </p:grpSpPr>
      <p:sp>
        <p:nvSpPr>
          <p:cNvPr id="289" name="Google Shape;289;p2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800"/>
              <a:t>Moore’s Law </a:t>
            </a:r>
            <a:r>
              <a:rPr baseline="30000" lang="en" sz="4800"/>
              <a:t>5</a:t>
            </a:r>
            <a:endParaRPr baseline="30000" sz="4800"/>
          </a:p>
        </p:txBody>
      </p:sp>
      <p:sp>
        <p:nvSpPr>
          <p:cNvPr id="290" name="Google Shape;290;p26"/>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3200"/>
              <a:t>Moore’s Law states that the number of transistors on a computer chip will double every 2 years. The prediction has proven true so far.</a:t>
            </a:r>
            <a:endParaRPr sz="32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94" name="Shape 294"/>
        <p:cNvGrpSpPr/>
        <p:nvPr/>
      </p:nvGrpSpPr>
      <p:grpSpPr>
        <a:xfrm>
          <a:off x="0" y="0"/>
          <a:ext cx="0" cy="0"/>
          <a:chOff x="0" y="0"/>
          <a:chExt cx="0" cy="0"/>
        </a:xfrm>
      </p:grpSpPr>
      <p:sp>
        <p:nvSpPr>
          <p:cNvPr id="295" name="Google Shape;295;p27"/>
          <p:cNvSpPr txBox="1"/>
          <p:nvPr>
            <p:ph type="title"/>
          </p:nvPr>
        </p:nvSpPr>
        <p:spPr>
          <a:xfrm>
            <a:off x="823850" y="2053000"/>
            <a:ext cx="4660200" cy="11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The Future of Computers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99" name="Shape 299"/>
        <p:cNvGrpSpPr/>
        <p:nvPr/>
      </p:nvGrpSpPr>
      <p:grpSpPr>
        <a:xfrm>
          <a:off x="0" y="0"/>
          <a:ext cx="0" cy="0"/>
          <a:chOff x="0" y="0"/>
          <a:chExt cx="0" cy="0"/>
        </a:xfrm>
      </p:grpSpPr>
      <p:sp>
        <p:nvSpPr>
          <p:cNvPr id="300" name="Google Shape;300;p28"/>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Quantum Computing </a:t>
            </a:r>
            <a:r>
              <a:rPr baseline="30000" lang="en"/>
              <a:t>6</a:t>
            </a:r>
            <a:endParaRPr baseline="30000"/>
          </a:p>
        </p:txBody>
      </p:sp>
      <p:sp>
        <p:nvSpPr>
          <p:cNvPr id="301" name="Google Shape;301;p28"/>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400"/>
              <a:t>The usual, everyday computer is based off of 0s and 1s, as you may have heard. However, scientists have found another way of computing, non-mechanically, and that method is called quantum computing. Quantum Computing is based off of qubits, which are very complex. The qubits rely on quantum physics, and each qubit can hold more data than just 0s and 1s. They are quite special, but a bit unpredictable. Many prototype quantum computers have been made, but since they are not very reliable, they are not used for anything requiring precision and are just a </a:t>
            </a:r>
            <a:r>
              <a:rPr lang="en" sz="1400"/>
              <a:t>research</a:t>
            </a:r>
            <a:r>
              <a:rPr lang="en" sz="1400"/>
              <a:t> model for a full scale quantum computer. The downside to quantum computing is that it can break all of the encryption standards we have today, which means that we need stronger encryption, otherwise our personal data may be leaked out onto the internet. Quantum computing is a new idea to scientists, and still needs more experimentation.</a:t>
            </a:r>
            <a:endParaRPr sz="14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05" name="Shape 305"/>
        <p:cNvGrpSpPr/>
        <p:nvPr/>
      </p:nvGrpSpPr>
      <p:grpSpPr>
        <a:xfrm>
          <a:off x="0" y="0"/>
          <a:ext cx="0" cy="0"/>
          <a:chOff x="0" y="0"/>
          <a:chExt cx="0" cy="0"/>
        </a:xfrm>
      </p:grpSpPr>
      <p:sp>
        <p:nvSpPr>
          <p:cNvPr id="306" name="Google Shape;306;p2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MLA Citations</a:t>
            </a:r>
            <a:endParaRPr/>
          </a:p>
        </p:txBody>
      </p:sp>
      <p:sp>
        <p:nvSpPr>
          <p:cNvPr id="307" name="Google Shape;307;p29"/>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t>1  “History of Computers: A Brief Timeline.” LiveScience, Purch, 2017, </a:t>
            </a:r>
            <a:r>
              <a:rPr lang="en" u="sng">
                <a:solidFill>
                  <a:schemeClr val="hlink"/>
                </a:solidFill>
                <a:hlinkClick r:id="rId3"/>
              </a:rPr>
              <a:t>www.livescience.com/20718-computer-history.html</a:t>
            </a:r>
            <a:r>
              <a:rPr lang="en"/>
              <a:t>.</a:t>
            </a:r>
            <a:endParaRPr/>
          </a:p>
          <a:p>
            <a:pPr indent="0" lvl="0" marL="0" rtl="0" algn="l">
              <a:lnSpc>
                <a:spcPct val="100000"/>
              </a:lnSpc>
              <a:spcBef>
                <a:spcPts val="1600"/>
              </a:spcBef>
              <a:spcAft>
                <a:spcPts val="0"/>
              </a:spcAft>
              <a:buNone/>
            </a:pPr>
            <a:r>
              <a:rPr lang="en"/>
              <a:t>2  Combined information from many sources on the internet, and Mr. Whalley</a:t>
            </a:r>
            <a:endParaRPr/>
          </a:p>
          <a:p>
            <a:pPr indent="0" lvl="0" marL="0" rtl="0" algn="l">
              <a:lnSpc>
                <a:spcPct val="100000"/>
              </a:lnSpc>
              <a:spcBef>
                <a:spcPts val="1600"/>
              </a:spcBef>
              <a:spcAft>
                <a:spcPts val="0"/>
              </a:spcAft>
              <a:buNone/>
            </a:pPr>
            <a:r>
              <a:rPr lang="en"/>
              <a:t>3  “Personal Computer Purchases.” Information Technology Services, 2019, </a:t>
            </a:r>
            <a:r>
              <a:rPr lang="en" u="sng">
                <a:solidFill>
                  <a:schemeClr val="hlink"/>
                </a:solidFill>
                <a:hlinkClick r:id="rId4"/>
              </a:rPr>
              <a:t>www.clarku.edu/offices/its/a-z-service-catalog/personal-computer-purchases/</a:t>
            </a:r>
            <a:r>
              <a:rPr lang="en"/>
              <a:t>.</a:t>
            </a:r>
            <a:endParaRPr/>
          </a:p>
          <a:p>
            <a:pPr indent="0" lvl="0" marL="0" rtl="0" algn="l">
              <a:lnSpc>
                <a:spcPct val="100000"/>
              </a:lnSpc>
              <a:spcBef>
                <a:spcPts val="1600"/>
              </a:spcBef>
              <a:spcAft>
                <a:spcPts val="0"/>
              </a:spcAft>
              <a:buNone/>
            </a:pPr>
            <a:r>
              <a:rPr lang="en"/>
              <a:t>4  Smith, Matthew S. “What Matters (And What Doesn't) When Buying a Gaming Desktop.” Digital Trends, Digital Trends, 6 Aug. 2018, </a:t>
            </a:r>
            <a:r>
              <a:rPr lang="en" u="sng">
                <a:solidFill>
                  <a:schemeClr val="hlink"/>
                </a:solidFill>
                <a:hlinkClick r:id="rId5"/>
              </a:rPr>
              <a:t>www.digitaltrends.com/computing/how-to-buy-a-gaming-desktop/</a:t>
            </a:r>
            <a:r>
              <a:rPr lang="en"/>
              <a:t>.</a:t>
            </a:r>
            <a:endParaRPr/>
          </a:p>
          <a:p>
            <a:pPr indent="0" lvl="0" marL="0" rtl="0" algn="l">
              <a:lnSpc>
                <a:spcPct val="100000"/>
              </a:lnSpc>
              <a:spcBef>
                <a:spcPts val="1600"/>
              </a:spcBef>
              <a:spcAft>
                <a:spcPts val="0"/>
              </a:spcAft>
              <a:buNone/>
            </a:pPr>
            <a:r>
              <a:rPr lang="en"/>
              <a:t>5  Combined information from many sources, online and offline</a:t>
            </a:r>
            <a:endParaRPr/>
          </a:p>
          <a:p>
            <a:pPr indent="0" lvl="0" marL="0" rtl="0" algn="l">
              <a:lnSpc>
                <a:spcPct val="100000"/>
              </a:lnSpc>
              <a:spcBef>
                <a:spcPts val="1600"/>
              </a:spcBef>
              <a:spcAft>
                <a:spcPts val="1600"/>
              </a:spcAft>
              <a:buNone/>
            </a:pPr>
            <a:r>
              <a:rPr lang="en"/>
              <a:t>6  Simonite, Tom. “What Is Quantum Computing? The Complete WIRED Guide.” Wired, Conde Nast, 30 Oct. 2018, </a:t>
            </a:r>
            <a:r>
              <a:rPr lang="en" u="sng">
                <a:solidFill>
                  <a:schemeClr val="hlink"/>
                </a:solidFill>
                <a:hlinkClick r:id="rId6"/>
              </a:rPr>
              <a:t>www.wired.com/story/wired-guide-to-quantum-computing/</a:t>
            </a:r>
            <a:r>
              <a:rPr lang="en"/>
              <a: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